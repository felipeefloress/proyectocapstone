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23.xml"/>
  <Override ContentType="application/vnd.openxmlformats-officedocument.presentationml.comments+xml" PartName="/ppt/comments/comment6.xml"/>
  <Override ContentType="application/vnd.openxmlformats-officedocument.presentationml.comments+xml" PartName="/ppt/comments/comment19.xml"/>
  <Override ContentType="application/vnd.openxmlformats-officedocument.presentationml.comments+xml" PartName="/ppt/comments/comment24.xml"/>
  <Override ContentType="application/vnd.openxmlformats-officedocument.presentationml.comments+xml" PartName="/ppt/comments/comment15.xml"/>
  <Override ContentType="application/vnd.openxmlformats-officedocument.presentationml.comments+xml" PartName="/ppt/comments/comment2.xml"/>
  <Override ContentType="application/vnd.openxmlformats-officedocument.presentationml.comments+xml" PartName="/ppt/comments/comment22.xml"/>
  <Override ContentType="application/vnd.openxmlformats-officedocument.presentationml.comments+xml" PartName="/ppt/comments/comment7.xml"/>
  <Override ContentType="application/vnd.openxmlformats-officedocument.presentationml.comments+xml" PartName="/ppt/comments/comment18.xml"/>
  <Override ContentType="application/vnd.openxmlformats-officedocument.presentationml.comments+xml" PartName="/ppt/comments/comment14.xml"/>
  <Override ContentType="application/vnd.openxmlformats-officedocument.presentationml.comments+xml" PartName="/ppt/comments/comment17.xml"/>
  <Override ContentType="application/vnd.openxmlformats-officedocument.presentationml.comments+xml" PartName="/ppt/comments/comment8.xml"/>
  <Override ContentType="application/vnd.openxmlformats-officedocument.presentationml.comments+xml" PartName="/ppt/comments/comment21.xml"/>
  <Override ContentType="application/vnd.openxmlformats-officedocument.presentationml.comments+xml" PartName="/ppt/comments/comment20.xml"/>
  <Override ContentType="application/vnd.openxmlformats-officedocument.presentationml.comments+xml" PartName="/ppt/comments/comment3.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25.xml"/>
  <Override ContentType="application/vnd.openxmlformats-officedocument.presentationml.comments+xml" PartName="/ppt/comments/comment1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12192000"/>
  <p:notesSz cx="6858000" cy="9144000"/>
  <p:embeddedFontLst>
    <p:embeddedFont>
      <p:font typeface="Roboto Mon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hNd9aOs1/WEePDYdZYmlZX40JME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5" name="FELIPE PATRICIO FLORES SANHUEZ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A2587F-D6CE-4157-AD05-9171BBE57124}">
  <a:tblStyle styleId="{CEA2587F-D6CE-4157-AD05-9171BBE5712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DA923A0-7BCF-41F2-81CE-0FEEF28B2689}" styleName="Table_1">
    <a:wholeTbl>
      <a:tcTxStyle>
        <a:font>
          <a:latin typeface="Arial"/>
          <a:ea typeface="Arial"/>
          <a:cs typeface="Arial"/>
        </a:font>
        <a:srgbClr val="000000"/>
      </a:tcTxStyle>
      <a:tcStyle>
        <a:tcBdr>
          <a:left>
            <a:ln cap="flat" cmpd="sng" w="6350">
              <a:solidFill>
                <a:srgbClr val="BFBFBF"/>
              </a:solidFill>
              <a:prstDash val="solid"/>
              <a:round/>
              <a:headEnd len="sm" w="sm" type="none"/>
              <a:tailEnd len="sm" w="sm" type="none"/>
            </a:ln>
          </a:left>
          <a:right>
            <a:ln cap="flat" cmpd="sng" w="6350">
              <a:solidFill>
                <a:srgbClr val="BFBFBF"/>
              </a:solidFill>
              <a:prstDash val="solid"/>
              <a:round/>
              <a:headEnd len="sm" w="sm" type="none"/>
              <a:tailEnd len="sm" w="sm" type="none"/>
            </a:ln>
          </a:right>
          <a:top>
            <a:ln cap="flat" cmpd="sng" w="6350">
              <a:solidFill>
                <a:srgbClr val="BFBFBF"/>
              </a:solidFill>
              <a:prstDash val="solid"/>
              <a:round/>
              <a:headEnd len="sm" w="sm" type="none"/>
              <a:tailEnd len="sm" w="sm" type="none"/>
            </a:ln>
          </a:top>
          <a:bottom>
            <a:ln cap="flat" cmpd="sng" w="6350">
              <a:solidFill>
                <a:srgbClr val="BFBFBF"/>
              </a:solidFill>
              <a:prstDash val="solid"/>
              <a:round/>
              <a:headEnd len="sm" w="sm" type="none"/>
              <a:tailEnd len="sm" w="sm" type="none"/>
            </a:ln>
          </a:bottom>
          <a:insideH>
            <a:ln cap="flat" cmpd="sng" w="6350">
              <a:solidFill>
                <a:srgbClr val="BFBFBF"/>
              </a:solidFill>
              <a:prstDash val="solid"/>
              <a:round/>
              <a:headEnd len="sm" w="sm" type="none"/>
              <a:tailEnd len="sm" w="sm" type="none"/>
            </a:ln>
          </a:insideH>
          <a:insideV>
            <a:ln cap="flat" cmpd="sng" w="6350">
              <a:solidFill>
                <a:srgbClr val="BFBFB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3.xml"/><Relationship Id="rId41" Type="http://customschemas.google.com/relationships/presentationmetadata" Target="meta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Mono-regular.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Mono-italic.fntdata"/><Relationship Id="rId16" Type="http://schemas.openxmlformats.org/officeDocument/2006/relationships/slide" Target="slides/slide9.xml"/><Relationship Id="rId38" Type="http://schemas.openxmlformats.org/officeDocument/2006/relationships/font" Target="fonts/RobotoMono-bold.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6-27T02:57:42.490">
    <p:pos x="6000" y="0"/>
    <p:text>Felipe Giraldi</p:text>
    <p:extLst>
      <p:ext uri="{C676402C-5697-4E1C-873F-D02D1690AC5C}">
        <p15:threadingInfo timeZoneBias="0"/>
      </p:ext>
      <p:ext uri="http://customooxmlschemas.google.com/">
        <go:slidesCustomData xmlns:go="http://customooxmlschemas.google.com/" commentPostId="AAABmb5X89w"/>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6-27T02:57:58.923">
    <p:pos x="6000" y="0"/>
    <p:text>Felipe Giralgi</p:text>
    <p:extLst>
      <p:ext uri="{C676402C-5697-4E1C-873F-D02D1690AC5C}">
        <p15:threadingInfo timeZoneBias="0"/>
      </p:ext>
      <p:ext uri="http://customooxmlschemas.google.com/">
        <go:slidesCustomData xmlns:go="http://customooxmlschemas.google.com/" commentPostId="AAABmb5X890"/>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6-27T02:58:09.288">
    <p:pos x="6000" y="0"/>
    <p:text>Felipe Flores</p:text>
    <p:extLst>
      <p:ext uri="{C676402C-5697-4E1C-873F-D02D1690AC5C}">
        <p15:threadingInfo timeZoneBias="0"/>
      </p:ext>
      <p:ext uri="http://customooxmlschemas.google.com/">
        <go:slidesCustomData xmlns:go="http://customooxmlschemas.google.com/" commentPostId="AAABmb5X894"/>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6-27T02:59:37.171">
    <p:pos x="6000" y="0"/>
    <p:text>Tomas Catalan</p:text>
    <p:extLst>
      <p:ext uri="{C676402C-5697-4E1C-873F-D02D1690AC5C}">
        <p15:threadingInfo timeZoneBias="0"/>
      </p:ext>
      <p:ext uri="http://customooxmlschemas.google.com/">
        <go:slidesCustomData xmlns:go="http://customooxmlschemas.google.com/" commentPostId="AAABmb5X8-Q"/>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6-27T02:58:55.379">
    <p:pos x="6000" y="0"/>
    <p:text>Felipe Flores</p:text>
    <p:extLst>
      <p:ext uri="{C676402C-5697-4E1C-873F-D02D1690AC5C}">
        <p15:threadingInfo timeZoneBias="0"/>
      </p:ext>
      <p:ext uri="http://customooxmlschemas.google.com/">
        <go:slidesCustomData xmlns:go="http://customooxmlschemas.google.com/" commentPostId="AAABmb5X8-A"/>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6-27T02:58:58.912">
    <p:pos x="6000" y="0"/>
    <p:text>Felipe Flores</p:text>
    <p:extLst>
      <p:ext uri="{C676402C-5697-4E1C-873F-D02D1690AC5C}">
        <p15:threadingInfo timeZoneBias="0"/>
      </p:ext>
      <p:ext uri="http://customooxmlschemas.google.com/">
        <go:slidesCustomData xmlns:go="http://customooxmlschemas.google.com/" commentPostId="AAABmb5X8-E"/>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06-27T02:59:01.703">
    <p:pos x="6000" y="0"/>
    <p:text>Felipe Flores</p:text>
    <p:extLst>
      <p:ext uri="{C676402C-5697-4E1C-873F-D02D1690AC5C}">
        <p15:threadingInfo timeZoneBias="0"/>
      </p:ext>
      <p:ext uri="http://customooxmlschemas.google.com/">
        <go:slidesCustomData xmlns:go="http://customooxmlschemas.google.com/" commentPostId="AAABmb5X8-I"/>
      </p:ext>
    </p:extLs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06-27T03:00:22.233">
    <p:pos x="6000" y="0"/>
    <p:text>Felipe Giraldi</p:text>
    <p:extLst>
      <p:ext uri="{C676402C-5697-4E1C-873F-D02D1690AC5C}">
        <p15:threadingInfo timeZoneBias="0"/>
      </p:ext>
      <p:ext uri="http://customooxmlschemas.google.com/">
        <go:slidesCustomData xmlns:go="http://customooxmlschemas.google.com/" commentPostId="AAABmb5X8-U"/>
      </p:ext>
    </p:extLs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5-06-27T03:00:25.804">
    <p:pos x="6000" y="0"/>
    <p:text>Felipe Giraldi</p:text>
    <p:extLst>
      <p:ext uri="{C676402C-5697-4E1C-873F-D02D1690AC5C}">
        <p15:threadingInfo timeZoneBias="0"/>
      </p:ext>
      <p:ext uri="http://customooxmlschemas.google.com/">
        <go:slidesCustomData xmlns:go="http://customooxmlschemas.google.com/" commentPostId="AAABmb5X8-Y"/>
      </p:ext>
    </p:extLs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5-06-27T03:00:41.150">
    <p:pos x="6000" y="0"/>
    <p:text>Felipe Maripangue</p:text>
    <p:extLst>
      <p:ext uri="{C676402C-5697-4E1C-873F-D02D1690AC5C}">
        <p15:threadingInfo timeZoneBias="0"/>
      </p:ext>
      <p:ext uri="http://customooxmlschemas.google.com/">
        <go:slidesCustomData xmlns:go="http://customooxmlschemas.google.com/" commentPostId="AAABmb5X8-c"/>
      </p:ext>
    </p:extLs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5-06-27T03:00:44.326">
    <p:pos x="6000" y="0"/>
    <p:text>Felipe Maripangue</p:text>
    <p:extLst>
      <p:ext uri="{C676402C-5697-4E1C-873F-D02D1690AC5C}">
        <p15:threadingInfo timeZoneBias="0"/>
      </p:ext>
      <p:ext uri="http://customooxmlschemas.google.com/">
        <go:slidesCustomData xmlns:go="http://customooxmlschemas.google.com/" commentPostId="AAABmb5X8-g"/>
      </p:ext>
    </p:extLs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5-06-27T03:01:24.729">
    <p:pos x="6000" y="0"/>
    <p:text>Felipe Giraldi</p:text>
    <p:extLst>
      <p:ext uri="{C676402C-5697-4E1C-873F-D02D1690AC5C}">
        <p15:threadingInfo timeZoneBias="0"/>
      </p:ext>
      <p:ext uri="http://customooxmlschemas.google.com/">
        <go:slidesCustomData xmlns:go="http://customooxmlschemas.google.com/" commentPostId="AAABmb5X8-0"/>
      </p:ext>
    </p:extLs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5-06-27T03:01:27.884">
    <p:pos x="6000" y="0"/>
    <p:text>Felipe Giraldi</p:text>
    <p:extLst>
      <p:ext uri="{C676402C-5697-4E1C-873F-D02D1690AC5C}">
        <p15:threadingInfo timeZoneBias="0"/>
      </p:ext>
      <p:ext uri="http://customooxmlschemas.google.com/">
        <go:slidesCustomData xmlns:go="http://customooxmlschemas.google.com/" commentPostId="AAABmb5X8-4"/>
      </p:ext>
    </p:extLs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5-06-27T03:01:34.740">
    <p:pos x="6000" y="0"/>
    <p:text>Felipe Flores</p:text>
    <p:extLst>
      <p:ext uri="{C676402C-5697-4E1C-873F-D02D1690AC5C}">
        <p15:threadingInfo timeZoneBias="0"/>
      </p:ext>
      <p:ext uri="http://customooxmlschemas.google.com/">
        <go:slidesCustomData xmlns:go="http://customooxmlschemas.google.com/" commentPostId="AAABmb5X8-8"/>
      </p:ext>
    </p:extLs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5" dt="2025-06-27T03:00:53.955">
    <p:pos x="6000" y="0"/>
    <p:text>Felipe Maripangue</p:text>
    <p:extLst>
      <p:ext uri="{C676402C-5697-4E1C-873F-D02D1690AC5C}">
        <p15:threadingInfo timeZoneBias="0"/>
      </p:ext>
      <p:ext uri="http://customooxmlschemas.google.com/">
        <go:slidesCustomData xmlns:go="http://customooxmlschemas.google.com/" commentPostId="AAABmb5X8-k"/>
      </p:ext>
    </p:extLs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5-06-27T03:00:57.647">
    <p:pos x="6000" y="0"/>
    <p:text>Felipe Maripangue</p:text>
    <p:extLst>
      <p:ext uri="{C676402C-5697-4E1C-873F-D02D1690AC5C}">
        <p15:threadingInfo timeZoneBias="0"/>
      </p:ext>
      <p:ext uri="http://customooxmlschemas.google.com/">
        <go:slidesCustomData xmlns:go="http://customooxmlschemas.google.com/" commentPostId="AAABmb5X8-o"/>
      </p:ext>
    </p:extLst>
  </p:cm>
</p:cmLst>
</file>

<file path=ppt/comments/comment1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5-06-27T03:01:01.385">
    <p:pos x="6000" y="0"/>
    <p:text>Felipe Maripangue</p:text>
    <p:extLst>
      <p:ext uri="{C676402C-5697-4E1C-873F-D02D1690AC5C}">
        <p15:threadingInfo timeZoneBias="0"/>
      </p:ext>
      <p:ext uri="http://customooxmlschemas.google.com/">
        <go:slidesCustomData xmlns:go="http://customooxmlschemas.google.com/" commentPostId="AAABmb5X8-s"/>
      </p:ext>
    </p:extLst>
  </p:cm>
</p:cmLst>
</file>

<file path=ppt/comments/comment1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5-06-27T03:01:04.394">
    <p:pos x="6000" y="0"/>
    <p:text>Felipe Maripangue</p:text>
    <p:extLst>
      <p:ext uri="{C676402C-5697-4E1C-873F-D02D1690AC5C}">
        <p15:threadingInfo timeZoneBias="0"/>
      </p:ext>
      <p:ext uri="http://customooxmlschemas.google.com/">
        <go:slidesCustomData xmlns:go="http://customooxmlschemas.google.com/" commentPostId="AAABmb5X8-w"/>
      </p:ext>
    </p:extLst>
  </p:cm>
</p:cmLst>
</file>

<file path=ppt/comments/comment1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5-06-27T03:02:35.172">
    <p:pos x="6000" y="0"/>
    <p:text>Tomas Catalan</p:text>
    <p:extLst>
      <p:ext uri="{C676402C-5697-4E1C-873F-D02D1690AC5C}">
        <p15:threadingInfo timeZoneBias="0"/>
      </p:ext>
      <p:ext uri="http://customooxmlschemas.google.com/">
        <go:slidesCustomData xmlns:go="http://customooxmlschemas.google.com/" commentPostId="AAABmb5X8_E"/>
      </p:ext>
    </p:extLst>
  </p:cm>
</p:cmLst>
</file>

<file path=ppt/comments/comment2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0" dt="2025-06-27T03:02:37.775">
    <p:pos x="6000" y="0"/>
    <p:text>Tomas Catalan</p:text>
    <p:extLst>
      <p:ext uri="{C676402C-5697-4E1C-873F-D02D1690AC5C}">
        <p15:threadingInfo timeZoneBias="0"/>
      </p:ext>
      <p:ext uri="http://customooxmlschemas.google.com/">
        <go:slidesCustomData xmlns:go="http://customooxmlschemas.google.com/" commentPostId="AAABmb5X8_I"/>
      </p:ext>
    </p:extLst>
  </p:cm>
</p:cmLst>
</file>

<file path=ppt/comments/comment2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1" dt="2025-06-27T03:02:40.486">
    <p:pos x="6000" y="0"/>
    <p:text>Tomas Catalan</p:text>
    <p:extLst>
      <p:ext uri="{C676402C-5697-4E1C-873F-D02D1690AC5C}">
        <p15:threadingInfo timeZoneBias="0"/>
      </p:ext>
      <p:ext uri="http://customooxmlschemas.google.com/">
        <go:slidesCustomData xmlns:go="http://customooxmlschemas.google.com/" commentPostId="AAABmcZVj3w"/>
      </p:ext>
    </p:extLst>
  </p:cm>
</p:cmLst>
</file>

<file path=ppt/comments/comment2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2" dt="2025-06-27T03:05:52.103">
    <p:pos x="6000" y="0"/>
    <p:text>Tomas Catalan</p:text>
    <p:extLst>
      <p:ext uri="{C676402C-5697-4E1C-873F-D02D1690AC5C}">
        <p15:threadingInfo timeZoneBias="0"/>
      </p:ext>
      <p:ext uri="http://customooxmlschemas.google.com/">
        <go:slidesCustomData xmlns:go="http://customooxmlschemas.google.com/" commentPostId="AAABmcZVj34"/>
      </p:ext>
    </p:extLst>
  </p:cm>
</p:cmLst>
</file>

<file path=ppt/comments/comment2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3" dt="2025-06-27T02:57:08.477">
    <p:pos x="6000" y="0"/>
    <p:text>Felipe Flores</p:text>
    <p:extLst>
      <p:ext uri="{C676402C-5697-4E1C-873F-D02D1690AC5C}">
        <p15:threadingInfo timeZoneBias="0"/>
      </p:ext>
      <p:ext uri="http://customooxmlschemas.google.com/">
        <go:slidesCustomData xmlns:go="http://customooxmlschemas.google.com/" commentPostId="AAABmbUxALY"/>
      </p:ext>
    </p:extLst>
  </p:cm>
</p:cmLst>
</file>

<file path=ppt/comments/comment2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4" dt="2025-06-27T02:57:12.694">
    <p:pos x="6000" y="0"/>
    <p:text>Felipe Flores</p:text>
    <p:extLst>
      <p:ext uri="{C676402C-5697-4E1C-873F-D02D1690AC5C}">
        <p15:threadingInfo timeZoneBias="0"/>
      </p:ext>
      <p:ext uri="http://customooxmlschemas.google.com/">
        <go:slidesCustomData xmlns:go="http://customooxmlschemas.google.com/" commentPostId="AAABmb5X89o"/>
      </p:ext>
    </p:extLst>
  </p:cm>
</p:cmLst>
</file>

<file path=ppt/comments/comment2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5" dt="2025-06-27T02:57:16.159">
    <p:pos x="6000" y="0"/>
    <p:text>Felipe Flores</p:text>
    <p:extLst>
      <p:ext uri="{C676402C-5697-4E1C-873F-D02D1690AC5C}">
        <p15:threadingInfo timeZoneBias="0"/>
      </p:ext>
      <p:ext uri="http://customooxmlschemas.google.com/">
        <go:slidesCustomData xmlns:go="http://customooxmlschemas.google.com/" commentPostId="AAABmb5X89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733c1dde9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mas fotos</a:t>
            </a:r>
            <a:endParaRPr/>
          </a:p>
        </p:txBody>
      </p:sp>
      <p:sp>
        <p:nvSpPr>
          <p:cNvPr id="90" name="Google Shape;90;g36733c1dde9_0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6733c1dde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6733c1dd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Decir lo que vimos en canal 13, nos </a:t>
            </a:r>
            <a:r>
              <a:rPr lang="es-CL"/>
              <a:t>explicó</a:t>
            </a:r>
            <a:r>
              <a:rPr lang="es-CL"/>
              <a:t> lo que se hace y nos mostró las instalaciones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9ae16c13d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descubrimos, es algo nuevo, no existe como tal, solo avances, pero nada igual ni similar</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hablar de la ley</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lo que quiere canal 13</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no hay avances que existan que canal 13 le sirvan</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describimos en cada lamina</a:t>
            </a:r>
            <a:endParaRPr sz="900">
              <a:solidFill>
                <a:schemeClr val="dk1"/>
              </a:solidFill>
              <a:latin typeface="Calibri"/>
              <a:ea typeface="Calibri"/>
              <a:cs typeface="Calibri"/>
              <a:sym typeface="Calibri"/>
            </a:endParaRPr>
          </a:p>
        </p:txBody>
      </p:sp>
      <p:sp>
        <p:nvSpPr>
          <p:cNvPr id="145" name="Google Shape;145;g369ae16c13d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9ae16c13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descubrimos, es algo nuevo, no existe como tal, solo avances, pero nada igual ni similar</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hablar de la ley</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lo que quiere canal 13</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no hay avances que existan que canal 13 le sirvan</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describimos en cada lamina</a:t>
            </a:r>
            <a:endParaRPr sz="900">
              <a:solidFill>
                <a:schemeClr val="dk1"/>
              </a:solidFill>
              <a:latin typeface="Calibri"/>
              <a:ea typeface="Calibri"/>
              <a:cs typeface="Calibri"/>
              <a:sym typeface="Calibri"/>
            </a:endParaRPr>
          </a:p>
        </p:txBody>
      </p:sp>
      <p:sp>
        <p:nvSpPr>
          <p:cNvPr id="155" name="Google Shape;155;g369ae16c13d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9ae16c13d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descubrimos, es algo nuevo, no existe como tal, solo avances, pero nada igual ni similar</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hablar de la ley</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lo que quiere canal 13</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no hay avances que existan que canal 13 le sirvan</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9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s-CL" sz="900">
                <a:solidFill>
                  <a:schemeClr val="dk1"/>
                </a:solidFill>
                <a:latin typeface="Calibri"/>
                <a:ea typeface="Calibri"/>
                <a:cs typeface="Calibri"/>
                <a:sym typeface="Calibri"/>
              </a:rPr>
              <a:t>que describimos en cada lamina</a:t>
            </a:r>
            <a:endParaRPr sz="900">
              <a:solidFill>
                <a:schemeClr val="dk1"/>
              </a:solidFill>
              <a:latin typeface="Calibri"/>
              <a:ea typeface="Calibri"/>
              <a:cs typeface="Calibri"/>
              <a:sym typeface="Calibri"/>
            </a:endParaRPr>
          </a:p>
        </p:txBody>
      </p:sp>
      <p:sp>
        <p:nvSpPr>
          <p:cNvPr id="165" name="Google Shape;165;g369ae16c13d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996a8014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Recordar el que es el proyecto definitivo, pero el nuestro es el prototipo, y otro grupo seguirá</a:t>
            </a:r>
            <a:endParaRPr/>
          </a:p>
        </p:txBody>
      </p:sp>
      <p:sp>
        <p:nvSpPr>
          <p:cNvPr id="175" name="Google Shape;175;g36996a8014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996a801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Introduccion, mas centrada a lo anterior, decir que son SMART</a:t>
            </a:r>
            <a:endParaRPr/>
          </a:p>
        </p:txBody>
      </p:sp>
      <p:sp>
        <p:nvSpPr>
          <p:cNvPr id="184" name="Google Shape;184;g36996a8014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9ae16c13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mas bonito </a:t>
            </a:r>
            <a:endParaRPr/>
          </a:p>
        </p:txBody>
      </p:sp>
      <p:sp>
        <p:nvSpPr>
          <p:cNvPr id="193" name="Google Shape;193;g369ae16c13d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9ae16c13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9ae16c13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que se vea mas bonito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Adaptar la Carta Gantt</a:t>
            </a:r>
            <a:endParaRPr/>
          </a:p>
        </p:txBody>
      </p:sp>
      <p:sp>
        <p:nvSpPr>
          <p:cNvPr id="223" name="Google Shape;2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6996a80142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6996a80142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9a32d57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69a32d57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Mejorar la calidad de este diagrama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arreglar este diagrama, para que tenga lo del transformer </a:t>
            </a:r>
            <a:endParaRPr/>
          </a:p>
        </p:txBody>
      </p:sp>
      <p:sp>
        <p:nvSpPr>
          <p:cNvPr id="249" name="Google Shape;2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69ae16c13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a:t>arreglar este diagrama, para que tenga lo del transformer </a:t>
            </a:r>
            <a:endParaRPr/>
          </a:p>
        </p:txBody>
      </p:sp>
      <p:sp>
        <p:nvSpPr>
          <p:cNvPr id="258" name="Google Shape;258;g369ae16c13d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996a8014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6996a80142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9ae16c13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69ae16c13d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69d4573da3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69d4573da3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69d4573da3_1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69d4573da3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69d4573da3_1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69d4573da3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9e15e6d3c_0_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369e15e6d3c_0_6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g369e15e6d3c_0_6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6c1f40db33_1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6c1f40db33_1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6c1f40db33_1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9ae16c13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69ae16c13d_0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69d4573da3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69d4573da3_1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69ae16c13d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69ae16c13d_0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1" name="Shape 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3.jpg"/><Relationship Id="rId5" Type="http://schemas.openxmlformats.org/officeDocument/2006/relationships/image" Target="../media/image15.jpg"/><Relationship Id="rId6" Type="http://schemas.openxmlformats.org/officeDocument/2006/relationships/image" Target="../media/image6.jpg"/><Relationship Id="rId7" Type="http://schemas.openxmlformats.org/officeDocument/2006/relationships/image" Target="../media/image8.jpg"/><Relationship Id="rId8"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omments" Target="../comments/comment4.xml"/><Relationship Id="rId4" Type="http://schemas.openxmlformats.org/officeDocument/2006/relationships/image" Target="../media/image1.png"/><Relationship Id="rId9" Type="http://schemas.openxmlformats.org/officeDocument/2006/relationships/image" Target="../media/image3.jp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omments" Target="../comments/comment5.xml"/><Relationship Id="rId4" Type="http://schemas.openxmlformats.org/officeDocument/2006/relationships/image" Target="../media/image3.jpg"/><Relationship Id="rId5" Type="http://schemas.openxmlformats.org/officeDocument/2006/relationships/hyperlink" Target="https://openaccess.thecvf.com/content_CVPR_2020/papers/Camgoz_Sign_Language_Transformers_Joint_End-to-End_Sign_Language_Recognition_and_Translation_CVPR_2020_paper.pdf?utm_source=chatgpt.com" TargetMode="External"/><Relationship Id="rId6" Type="http://schemas.openxmlformats.org/officeDocument/2006/relationships/hyperlink" Target="https://personalpages.surrey.ac.uk/s.hadfield/papers/Camgoz20b.pdf?utm_source" TargetMode="External"/><Relationship Id="rId7" Type="http://schemas.openxmlformats.org/officeDocument/2006/relationships/hyperlink" Target="https://en.wikipedia.org/wiki/Whisper_%28speech_recognition_system%29?utm_sour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6.xml"/><Relationship Id="rId4" Type="http://schemas.openxmlformats.org/officeDocument/2006/relationships/image" Target="../media/image3.jpg"/><Relationship Id="rId5" Type="http://schemas.openxmlformats.org/officeDocument/2006/relationships/hyperlink" Target="https://aclanthology.org/2021.mtsummit-at4ssl.10.pdf" TargetMode="External"/><Relationship Id="rId6" Type="http://schemas.openxmlformats.org/officeDocument/2006/relationships/hyperlink" Target="http://www.leychile.cl/N?i=1154963&amp;t=0" TargetMode="External"/><Relationship Id="rId7" Type="http://schemas.openxmlformats.org/officeDocument/2006/relationships/hyperlink" Target="https://www.bcn.cl/historiadelaley/fileadmin/file_ley/7837/HLD_7837_37a6259cc0c1dae299a7866489dff0bd.pdf?utm_source" TargetMode="External"/><Relationship Id="rId8" Type="http://schemas.openxmlformats.org/officeDocument/2006/relationships/hyperlink" Target="https://www.researchgate.net/publication/366087350_Linguistica_y_Lengua_de_Senas_Chilen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7.xml"/><Relationship Id="rId4" Type="http://schemas.openxmlformats.org/officeDocument/2006/relationships/image" Target="../media/image3.jpg"/><Relationship Id="rId5" Type="http://schemas.openxmlformats.org/officeDocument/2006/relationships/hyperlink" Target="https://www.ncbi.nlm.nih.gov/pmc/articles/PMC10744067/" TargetMode="External"/><Relationship Id="rId6" Type="http://schemas.openxmlformats.org/officeDocument/2006/relationships/hyperlink" Target="http://how2sign.github.io/" TargetMode="External"/><Relationship Id="rId7" Type="http://schemas.openxmlformats.org/officeDocument/2006/relationships/hyperlink" Target="https://aclanthology.org/2022.sltat-1.9.pdf?utm_source=chatgpt.com" TargetMode="External"/><Relationship Id="rId8" Type="http://schemas.openxmlformats.org/officeDocument/2006/relationships/hyperlink" Target="https://www.unirioja.es/premiado-el-proyecto-lseavatar-que-desarrolla-un-asistente-virtual-capaz-de-traducir-el-lenguaje-oral-a-lenguaje-de-signos/?utm_sourc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omments" Target="../comments/comment8.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omments" Target="../comments/comment9.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10.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omments" Target="../comments/comment11.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1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13.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omments" Target="../comments/comment14.xml"/><Relationship Id="rId4" Type="http://schemas.openxmlformats.org/officeDocument/2006/relationships/image" Target="../media/image3.jp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15.xml"/><Relationship Id="rId4" Type="http://schemas.openxmlformats.org/officeDocument/2006/relationships/image" Target="../media/image3.jpg"/><Relationship Id="rId5"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omments" Target="../comments/comment16.xml"/><Relationship Id="rId4" Type="http://schemas.openxmlformats.org/officeDocument/2006/relationships/image" Target="../media/image3.jpg"/><Relationship Id="rId5"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omments" Target="../comments/comment17.xml"/><Relationship Id="rId4" Type="http://schemas.openxmlformats.org/officeDocument/2006/relationships/image" Target="../media/image3.jpg"/><Relationship Id="rId5" Type="http://schemas.openxmlformats.org/officeDocument/2006/relationships/image" Target="../media/image4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omments" Target="../comments/comment18.xml"/><Relationship Id="rId4" Type="http://schemas.openxmlformats.org/officeDocument/2006/relationships/image" Target="../media/image3.jpg"/><Relationship Id="rId5" Type="http://schemas.openxmlformats.org/officeDocument/2006/relationships/image" Target="../media/image4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omments" Target="../comments/comment19.xml"/><Relationship Id="rId4" Type="http://schemas.openxmlformats.org/officeDocument/2006/relationships/image" Target="../media/image13.png"/><Relationship Id="rId5"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omments" Target="../comments/comment20.xml"/><Relationship Id="rId4" Type="http://schemas.openxmlformats.org/officeDocument/2006/relationships/image" Target="../media/image19.png"/><Relationship Id="rId5"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comments" Target="../comments/comment21.xml"/><Relationship Id="rId4" Type="http://schemas.openxmlformats.org/officeDocument/2006/relationships/image" Target="../media/image14.png"/><Relationship Id="rId5" Type="http://schemas.openxmlformats.org/officeDocument/2006/relationships/image" Target="../media/image3.jpg"/></Relationships>
</file>

<file path=ppt/slides/_rels/slide2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39.png"/><Relationship Id="rId13" Type="http://schemas.openxmlformats.org/officeDocument/2006/relationships/image" Target="../media/image23.png"/><Relationship Id="rId12" Type="http://schemas.openxmlformats.org/officeDocument/2006/relationships/image" Target="../media/image52.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0.png"/><Relationship Id="rId9" Type="http://schemas.openxmlformats.org/officeDocument/2006/relationships/image" Target="../media/image29.png"/><Relationship Id="rId14" Type="http://schemas.openxmlformats.org/officeDocument/2006/relationships/image" Target="../media/image22.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41.png"/><Relationship Id="rId8" Type="http://schemas.openxmlformats.org/officeDocument/2006/relationships/image" Target="../media/image26.png"/></Relationships>
</file>

<file path=ppt/slides/_rels/slide23.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2.png"/><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35.png"/></Relationships>
</file>

<file path=ppt/slides/_rels/slide24.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49.png"/><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51.png"/><Relationship Id="rId5" Type="http://schemas.openxmlformats.org/officeDocument/2006/relationships/image" Target="../media/image37.png"/><Relationship Id="rId6" Type="http://schemas.openxmlformats.org/officeDocument/2006/relationships/image" Target="../media/image44.png"/><Relationship Id="rId7" Type="http://schemas.openxmlformats.org/officeDocument/2006/relationships/image" Target="../media/image43.png"/><Relationship Id="rId8"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comments" Target="../comments/comment2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comments" Target="../comments/comment23.xml"/><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comments" Target="../comments/comment24.xml"/><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comments" Target="../comments/comment25.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descr="EscuelaIT Duoc UC - Escuela de Informática y Telecomunicaciones Duoc UC - Duoc  UC | LinkedIn" id="86" name="Google Shape;86;p1"/>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87" name="Google Shape;87;p1"/>
          <p:cNvSpPr txBox="1"/>
          <p:nvPr/>
        </p:nvSpPr>
        <p:spPr>
          <a:xfrm>
            <a:off x="1" y="2520892"/>
            <a:ext cx="12192000" cy="181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4400" u="none" cap="none" strike="noStrike">
                <a:solidFill>
                  <a:schemeClr val="dk1"/>
                </a:solidFill>
                <a:latin typeface="Calibri"/>
                <a:ea typeface="Calibri"/>
                <a:cs typeface="Calibri"/>
                <a:sym typeface="Calibri"/>
              </a:rPr>
              <a:t>PROYECTO </a:t>
            </a:r>
            <a:endParaRPr b="0" i="0" sz="44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s-CL" sz="4400" u="none" cap="none" strike="noStrike">
                <a:solidFill>
                  <a:schemeClr val="dk1"/>
                </a:solidFill>
                <a:latin typeface="Calibri"/>
                <a:ea typeface="Calibri"/>
                <a:cs typeface="Calibri"/>
                <a:sym typeface="Calibri"/>
              </a:rPr>
              <a:t>“</a:t>
            </a:r>
            <a:r>
              <a:rPr lang="es-CL" sz="4400">
                <a:solidFill>
                  <a:schemeClr val="dk1"/>
                </a:solidFill>
                <a:latin typeface="Calibri"/>
                <a:ea typeface="Calibri"/>
                <a:cs typeface="Calibri"/>
                <a:sym typeface="Calibri"/>
              </a:rPr>
              <a:t>SEÑAI</a:t>
            </a:r>
            <a:r>
              <a:rPr b="0" i="0" lang="es-CL" sz="4400" u="none" cap="none" strike="noStrike">
                <a:solidFill>
                  <a:schemeClr val="dk1"/>
                </a:solidFill>
                <a:latin typeface="Calibri"/>
                <a:ea typeface="Calibri"/>
                <a:cs typeface="Calibri"/>
                <a:sym typeface="Calibri"/>
              </a:rPr>
              <a:t>”</a:t>
            </a:r>
            <a:endParaRPr/>
          </a:p>
          <a:p>
            <a:pPr indent="0" lvl="0" marL="0" marR="0" rtl="0" algn="ctr">
              <a:spcBef>
                <a:spcPts val="0"/>
              </a:spcBef>
              <a:spcAft>
                <a:spcPts val="0"/>
              </a:spcAft>
              <a:buNone/>
            </a:pPr>
            <a:r>
              <a:rPr b="0" i="0" lang="es-CL" sz="2400" u="none" cap="none" strike="noStrike">
                <a:solidFill>
                  <a:schemeClr val="dk1"/>
                </a:solidFill>
                <a:latin typeface="Calibri"/>
                <a:ea typeface="Calibri"/>
                <a:cs typeface="Calibri"/>
                <a:sym typeface="Calibri"/>
              </a:rPr>
              <a:t>PRESENTACIÓN FINAL CAPSTONE</a:t>
            </a:r>
            <a:endParaRPr b="0" i="0" sz="24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descr="EscuelaIT Duoc UC - Escuela de Informática y Telecomunicaciones Duoc UC - Duoc  UC | LinkedIn" id="92" name="Google Shape;92;g36733c1dde9_0_220"/>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93" name="Google Shape;93;g36733c1dde9_0_22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SEÑAI</a:t>
            </a:r>
            <a:r>
              <a:rPr b="0" i="0" lang="es-CL" sz="1800" u="none" cap="none" strike="noStrike">
                <a:solidFill>
                  <a:srgbClr val="757070"/>
                </a:solidFill>
                <a:latin typeface="Calibri"/>
                <a:ea typeface="Calibri"/>
                <a:cs typeface="Calibri"/>
                <a:sym typeface="Calibri"/>
              </a:rPr>
              <a:t>”</a:t>
            </a:r>
            <a:endParaRPr/>
          </a:p>
        </p:txBody>
      </p:sp>
      <p:sp>
        <p:nvSpPr>
          <p:cNvPr id="94" name="Google Shape;94;g36733c1dde9_0_220"/>
          <p:cNvSpPr txBox="1"/>
          <p:nvPr/>
        </p:nvSpPr>
        <p:spPr>
          <a:xfrm>
            <a:off x="238327" y="3058616"/>
            <a:ext cx="36090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cxnSp>
        <p:nvCxnSpPr>
          <p:cNvPr id="95" name="Google Shape;95;g36733c1dde9_0_220"/>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grpSp>
        <p:nvGrpSpPr>
          <p:cNvPr id="96" name="Google Shape;96;g36733c1dde9_0_220"/>
          <p:cNvGrpSpPr/>
          <p:nvPr/>
        </p:nvGrpSpPr>
        <p:grpSpPr>
          <a:xfrm>
            <a:off x="4505238" y="992898"/>
            <a:ext cx="7408312" cy="1309159"/>
            <a:chOff x="2040926" y="4192986"/>
            <a:chExt cx="7633500" cy="1359600"/>
          </a:xfrm>
        </p:grpSpPr>
        <p:sp>
          <p:nvSpPr>
            <p:cNvPr id="97" name="Google Shape;97;g36733c1dde9_0_220"/>
            <p:cNvSpPr/>
            <p:nvPr/>
          </p:nvSpPr>
          <p:spPr>
            <a:xfrm>
              <a:off x="2040926" y="4192986"/>
              <a:ext cx="7633500" cy="1359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98" name="Google Shape;98;g36733c1dde9_0_220"/>
            <p:cNvSpPr txBox="1"/>
            <p:nvPr/>
          </p:nvSpPr>
          <p:spPr>
            <a:xfrm>
              <a:off x="3890095" y="4257436"/>
              <a:ext cx="2864100" cy="448200"/>
            </a:xfrm>
            <a:prstGeom prst="rect">
              <a:avLst/>
            </a:prstGeom>
            <a:noFill/>
            <a:ln>
              <a:noFill/>
            </a:ln>
          </p:spPr>
          <p:txBody>
            <a:bodyPr anchorCtr="0" anchor="t" bIns="99050" lIns="99050" spcFirstLastPara="1" rIns="99050" wrap="square" tIns="99050">
              <a:noAutofit/>
            </a:bodyPr>
            <a:lstStyle/>
            <a:p>
              <a:pPr indent="0" lvl="0" marL="0" rtl="0" algn="l">
                <a:lnSpc>
                  <a:spcPct val="90000"/>
                </a:lnSpc>
                <a:spcBef>
                  <a:spcPts val="0"/>
                </a:spcBef>
                <a:spcAft>
                  <a:spcPts val="0"/>
                </a:spcAft>
                <a:buClr>
                  <a:schemeClr val="lt1"/>
                </a:buClr>
                <a:buSzPts val="2400"/>
                <a:buFont typeface="Calibri"/>
                <a:buNone/>
              </a:pPr>
              <a:r>
                <a:rPr lang="es-CL" sz="2400">
                  <a:solidFill>
                    <a:schemeClr val="lt1"/>
                  </a:solidFill>
                  <a:latin typeface="Calibri"/>
                  <a:ea typeface="Calibri"/>
                  <a:cs typeface="Calibri"/>
                  <a:sym typeface="Calibri"/>
                </a:rPr>
                <a:t>Tomás Catalan</a:t>
              </a:r>
              <a:endParaRPr b="0" i="0" u="none" cap="none" strike="noStrike">
                <a:solidFill>
                  <a:srgbClr val="FFFFFF"/>
                </a:solidFill>
                <a:latin typeface="Calibri"/>
                <a:ea typeface="Calibri"/>
                <a:cs typeface="Calibri"/>
                <a:sym typeface="Calibri"/>
              </a:endParaRPr>
            </a:p>
          </p:txBody>
        </p:sp>
      </p:grpSp>
      <p:sp>
        <p:nvSpPr>
          <p:cNvPr id="99" name="Google Shape;99;g36733c1dde9_0_220"/>
          <p:cNvSpPr/>
          <p:nvPr/>
        </p:nvSpPr>
        <p:spPr>
          <a:xfrm>
            <a:off x="4747046" y="1099485"/>
            <a:ext cx="1481700" cy="10473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00" name="Google Shape;100;g36733c1dde9_0_220"/>
          <p:cNvSpPr txBox="1"/>
          <p:nvPr/>
        </p:nvSpPr>
        <p:spPr>
          <a:xfrm>
            <a:off x="6299927" y="1407281"/>
            <a:ext cx="5603100" cy="431700"/>
          </a:xfrm>
          <a:prstGeom prst="rect">
            <a:avLst/>
          </a:prstGeom>
          <a:noFill/>
          <a:ln>
            <a:noFill/>
          </a:ln>
        </p:spPr>
        <p:txBody>
          <a:bodyPr anchorCtr="0" anchor="t" bIns="99050" lIns="99050" spcFirstLastPara="1" rIns="99050" wrap="square" tIns="99050">
            <a:noAutofit/>
          </a:bodyPr>
          <a:lstStyle/>
          <a:p>
            <a:pPr indent="-171450" lvl="1" marL="228600" rtl="0" algn="l">
              <a:lnSpc>
                <a:spcPct val="90000"/>
              </a:lnSpc>
              <a:spcBef>
                <a:spcPts val="840"/>
              </a:spcBef>
              <a:spcAft>
                <a:spcPts val="0"/>
              </a:spcAft>
              <a:buClr>
                <a:schemeClr val="lt1"/>
              </a:buClr>
              <a:buSzPts val="900"/>
              <a:buFont typeface="Calibri"/>
              <a:buChar char="•"/>
            </a:pPr>
            <a:r>
              <a:rPr b="1" lang="es-CL">
                <a:solidFill>
                  <a:schemeClr val="lt1"/>
                </a:solidFill>
                <a:latin typeface="Calibri"/>
                <a:ea typeface="Calibri"/>
                <a:cs typeface="Calibri"/>
                <a:sym typeface="Calibri"/>
              </a:rPr>
              <a:t>Desarrollador Principal de Software / Integrador de IA</a:t>
            </a:r>
            <a:endParaRPr b="1" sz="1000">
              <a:solidFill>
                <a:schemeClr val="dk1"/>
              </a:solidFill>
            </a:endParaRPr>
          </a:p>
          <a:p>
            <a:pPr indent="-184150" lvl="1" marL="228600" rtl="0" algn="l">
              <a:lnSpc>
                <a:spcPct val="90000"/>
              </a:lnSpc>
              <a:spcBef>
                <a:spcPts val="270"/>
              </a:spcBef>
              <a:spcAft>
                <a:spcPts val="0"/>
              </a:spcAft>
              <a:buClr>
                <a:schemeClr val="lt1"/>
              </a:buClr>
              <a:buSzPts val="900"/>
              <a:buFont typeface="Calibri"/>
              <a:buChar char="•"/>
            </a:pPr>
            <a:r>
              <a:rPr lang="es-CL" sz="1200">
                <a:solidFill>
                  <a:schemeClr val="lt1"/>
                </a:solidFill>
                <a:latin typeface="Calibri"/>
                <a:ea typeface="Calibri"/>
                <a:cs typeface="Calibri"/>
                <a:sym typeface="Calibri"/>
              </a:rPr>
              <a:t>Responsable del desarrollo del código central del proyecto. Implementó el sistema de conversión de audio a texto y desarrolló la inteligencia artificial basada en un modelo transformer.</a:t>
            </a:r>
            <a:endParaRPr sz="2200">
              <a:solidFill>
                <a:srgbClr val="FFFFFF"/>
              </a:solidFill>
              <a:latin typeface="Calibri"/>
              <a:ea typeface="Calibri"/>
              <a:cs typeface="Calibri"/>
              <a:sym typeface="Calibri"/>
            </a:endParaRPr>
          </a:p>
        </p:txBody>
      </p:sp>
      <p:grpSp>
        <p:nvGrpSpPr>
          <p:cNvPr id="101" name="Google Shape;101;g36733c1dde9_0_220"/>
          <p:cNvGrpSpPr/>
          <p:nvPr/>
        </p:nvGrpSpPr>
        <p:grpSpPr>
          <a:xfrm>
            <a:off x="4505238" y="2392827"/>
            <a:ext cx="7408312" cy="1309159"/>
            <a:chOff x="2040926" y="4192986"/>
            <a:chExt cx="7633500" cy="1359600"/>
          </a:xfrm>
        </p:grpSpPr>
        <p:sp>
          <p:nvSpPr>
            <p:cNvPr id="102" name="Google Shape;102;g36733c1dde9_0_220"/>
            <p:cNvSpPr/>
            <p:nvPr/>
          </p:nvSpPr>
          <p:spPr>
            <a:xfrm>
              <a:off x="2040926" y="4192986"/>
              <a:ext cx="7633500" cy="1359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03" name="Google Shape;103;g36733c1dde9_0_220"/>
            <p:cNvSpPr txBox="1"/>
            <p:nvPr/>
          </p:nvSpPr>
          <p:spPr>
            <a:xfrm>
              <a:off x="3890095" y="4257436"/>
              <a:ext cx="2864100" cy="448200"/>
            </a:xfrm>
            <a:prstGeom prst="rect">
              <a:avLst/>
            </a:prstGeom>
            <a:noFill/>
            <a:ln>
              <a:noFill/>
            </a:ln>
          </p:spPr>
          <p:txBody>
            <a:bodyPr anchorCtr="0" anchor="t" bIns="99050" lIns="99050" spcFirstLastPara="1" rIns="99050" wrap="square" tIns="99050">
              <a:noAutofit/>
            </a:bodyPr>
            <a:lstStyle/>
            <a:p>
              <a:pPr indent="0" lvl="0" marL="0" rtl="0" algn="l">
                <a:lnSpc>
                  <a:spcPct val="90000"/>
                </a:lnSpc>
                <a:spcBef>
                  <a:spcPts val="0"/>
                </a:spcBef>
                <a:spcAft>
                  <a:spcPts val="0"/>
                </a:spcAft>
                <a:buClr>
                  <a:schemeClr val="lt1"/>
                </a:buClr>
                <a:buSzPts val="2400"/>
                <a:buFont typeface="Calibri"/>
                <a:buNone/>
              </a:pPr>
              <a:r>
                <a:rPr lang="es-CL" sz="2400">
                  <a:solidFill>
                    <a:schemeClr val="lt1"/>
                  </a:solidFill>
                  <a:latin typeface="Calibri"/>
                  <a:ea typeface="Calibri"/>
                  <a:cs typeface="Calibri"/>
                  <a:sym typeface="Calibri"/>
                </a:rPr>
                <a:t>Felipe Giraldi</a:t>
              </a:r>
              <a:endParaRPr b="0" i="0" u="none" cap="none" strike="noStrike">
                <a:solidFill>
                  <a:srgbClr val="FFFFFF"/>
                </a:solidFill>
                <a:latin typeface="Calibri"/>
                <a:ea typeface="Calibri"/>
                <a:cs typeface="Calibri"/>
                <a:sym typeface="Calibri"/>
              </a:endParaRPr>
            </a:p>
          </p:txBody>
        </p:sp>
      </p:grpSp>
      <p:sp>
        <p:nvSpPr>
          <p:cNvPr id="104" name="Google Shape;104;g36733c1dde9_0_220"/>
          <p:cNvSpPr/>
          <p:nvPr/>
        </p:nvSpPr>
        <p:spPr>
          <a:xfrm>
            <a:off x="4747046" y="2499414"/>
            <a:ext cx="1481700" cy="10473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05" name="Google Shape;105;g36733c1dde9_0_220"/>
          <p:cNvSpPr txBox="1"/>
          <p:nvPr/>
        </p:nvSpPr>
        <p:spPr>
          <a:xfrm>
            <a:off x="6299927" y="2807210"/>
            <a:ext cx="5603100" cy="431700"/>
          </a:xfrm>
          <a:prstGeom prst="rect">
            <a:avLst/>
          </a:prstGeom>
          <a:noFill/>
          <a:ln>
            <a:noFill/>
          </a:ln>
        </p:spPr>
        <p:txBody>
          <a:bodyPr anchorCtr="0" anchor="t" bIns="99050" lIns="99050" spcFirstLastPara="1" rIns="99050" wrap="square" tIns="99050">
            <a:noAutofit/>
          </a:bodyPr>
          <a:lstStyle/>
          <a:p>
            <a:pPr indent="-184150" lvl="1" marL="228600" rtl="0" algn="l">
              <a:lnSpc>
                <a:spcPct val="90000"/>
              </a:lnSpc>
              <a:spcBef>
                <a:spcPts val="840"/>
              </a:spcBef>
              <a:spcAft>
                <a:spcPts val="0"/>
              </a:spcAft>
              <a:buClr>
                <a:schemeClr val="lt1"/>
              </a:buClr>
              <a:buSzPts val="1100"/>
              <a:buFont typeface="Calibri"/>
              <a:buChar char="•"/>
            </a:pPr>
            <a:r>
              <a:rPr b="1" lang="es-CL">
                <a:solidFill>
                  <a:schemeClr val="lt1"/>
                </a:solidFill>
                <a:latin typeface="Calibri"/>
                <a:ea typeface="Calibri"/>
                <a:cs typeface="Calibri"/>
                <a:sym typeface="Calibri"/>
              </a:rPr>
              <a:t>Ingeniero de Datos / Desarrollador Secundario</a:t>
            </a:r>
            <a:endParaRPr b="1">
              <a:solidFill>
                <a:schemeClr val="dk1"/>
              </a:solidFill>
            </a:endParaRPr>
          </a:p>
          <a:p>
            <a:pPr indent="-184150" lvl="1" marL="228600" rtl="0" algn="l">
              <a:lnSpc>
                <a:spcPct val="90000"/>
              </a:lnSpc>
              <a:spcBef>
                <a:spcPts val="270"/>
              </a:spcBef>
              <a:spcAft>
                <a:spcPts val="0"/>
              </a:spcAft>
              <a:buClr>
                <a:schemeClr val="lt1"/>
              </a:buClr>
              <a:buSzPts val="900"/>
              <a:buFont typeface="Calibri"/>
              <a:buChar char="•"/>
            </a:pPr>
            <a:r>
              <a:rPr lang="es-CL" sz="1200">
                <a:solidFill>
                  <a:schemeClr val="lt1"/>
                </a:solidFill>
                <a:latin typeface="Calibri"/>
                <a:ea typeface="Calibri"/>
                <a:cs typeface="Calibri"/>
                <a:sym typeface="Calibri"/>
              </a:rPr>
              <a:t>Encargado de la creación del dataset, incluyendo la generación de coordenadas. También contribuyó con alternativas de código para los módulos de audio a texto y el modelo transformer, además de la elaboración de documentación.</a:t>
            </a:r>
            <a:endParaRPr sz="1200">
              <a:solidFill>
                <a:srgbClr val="FFFFFF"/>
              </a:solidFill>
              <a:latin typeface="Calibri"/>
              <a:ea typeface="Calibri"/>
              <a:cs typeface="Calibri"/>
              <a:sym typeface="Calibri"/>
            </a:endParaRPr>
          </a:p>
        </p:txBody>
      </p:sp>
      <p:grpSp>
        <p:nvGrpSpPr>
          <p:cNvPr id="106" name="Google Shape;106;g36733c1dde9_0_220"/>
          <p:cNvGrpSpPr/>
          <p:nvPr/>
        </p:nvGrpSpPr>
        <p:grpSpPr>
          <a:xfrm>
            <a:off x="4505238" y="3816877"/>
            <a:ext cx="7408312" cy="1309159"/>
            <a:chOff x="2040926" y="4192986"/>
            <a:chExt cx="7633500" cy="1359600"/>
          </a:xfrm>
        </p:grpSpPr>
        <p:sp>
          <p:nvSpPr>
            <p:cNvPr id="107" name="Google Shape;107;g36733c1dde9_0_220"/>
            <p:cNvSpPr/>
            <p:nvPr/>
          </p:nvSpPr>
          <p:spPr>
            <a:xfrm>
              <a:off x="2040926" y="4192986"/>
              <a:ext cx="7633500" cy="1359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08" name="Google Shape;108;g36733c1dde9_0_220"/>
            <p:cNvSpPr txBox="1"/>
            <p:nvPr/>
          </p:nvSpPr>
          <p:spPr>
            <a:xfrm>
              <a:off x="3890095" y="4257436"/>
              <a:ext cx="2864100" cy="448200"/>
            </a:xfrm>
            <a:prstGeom prst="rect">
              <a:avLst/>
            </a:prstGeom>
            <a:noFill/>
            <a:ln>
              <a:noFill/>
            </a:ln>
          </p:spPr>
          <p:txBody>
            <a:bodyPr anchorCtr="0" anchor="t" bIns="99050" lIns="99050" spcFirstLastPara="1" rIns="99050" wrap="square" tIns="99050">
              <a:noAutofit/>
            </a:bodyPr>
            <a:lstStyle/>
            <a:p>
              <a:pPr indent="0" lvl="0" marL="0" rtl="0" algn="l">
                <a:lnSpc>
                  <a:spcPct val="90000"/>
                </a:lnSpc>
                <a:spcBef>
                  <a:spcPts val="0"/>
                </a:spcBef>
                <a:spcAft>
                  <a:spcPts val="0"/>
                </a:spcAft>
                <a:buClr>
                  <a:schemeClr val="lt1"/>
                </a:buClr>
                <a:buSzPts val="2400"/>
                <a:buFont typeface="Calibri"/>
                <a:buNone/>
              </a:pPr>
              <a:r>
                <a:rPr lang="es-CL" sz="2400">
                  <a:solidFill>
                    <a:schemeClr val="lt1"/>
                  </a:solidFill>
                  <a:latin typeface="Calibri"/>
                  <a:ea typeface="Calibri"/>
                  <a:cs typeface="Calibri"/>
                  <a:sym typeface="Calibri"/>
                </a:rPr>
                <a:t>Felipe Maripangue</a:t>
              </a:r>
              <a:endParaRPr b="0" i="0" u="none" cap="none" strike="noStrike">
                <a:solidFill>
                  <a:srgbClr val="FFFFFF"/>
                </a:solidFill>
                <a:latin typeface="Calibri"/>
                <a:ea typeface="Calibri"/>
                <a:cs typeface="Calibri"/>
                <a:sym typeface="Calibri"/>
              </a:endParaRPr>
            </a:p>
          </p:txBody>
        </p:sp>
      </p:grpSp>
      <p:sp>
        <p:nvSpPr>
          <p:cNvPr id="109" name="Google Shape;109;g36733c1dde9_0_220"/>
          <p:cNvSpPr/>
          <p:nvPr/>
        </p:nvSpPr>
        <p:spPr>
          <a:xfrm>
            <a:off x="4747046" y="3923464"/>
            <a:ext cx="1481700" cy="10473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10" name="Google Shape;110;g36733c1dde9_0_220"/>
          <p:cNvSpPr txBox="1"/>
          <p:nvPr/>
        </p:nvSpPr>
        <p:spPr>
          <a:xfrm>
            <a:off x="6299927" y="4231260"/>
            <a:ext cx="5603100" cy="431700"/>
          </a:xfrm>
          <a:prstGeom prst="rect">
            <a:avLst/>
          </a:prstGeom>
          <a:noFill/>
          <a:ln>
            <a:noFill/>
          </a:ln>
        </p:spPr>
        <p:txBody>
          <a:bodyPr anchorCtr="0" anchor="t" bIns="99050" lIns="99050" spcFirstLastPara="1" rIns="99050" wrap="square" tIns="99050">
            <a:noAutofit/>
          </a:bodyPr>
          <a:lstStyle/>
          <a:p>
            <a:pPr indent="-184150" lvl="1" marL="228600" rtl="0" algn="l">
              <a:lnSpc>
                <a:spcPct val="90000"/>
              </a:lnSpc>
              <a:spcBef>
                <a:spcPts val="840"/>
              </a:spcBef>
              <a:spcAft>
                <a:spcPts val="0"/>
              </a:spcAft>
              <a:buClr>
                <a:schemeClr val="lt1"/>
              </a:buClr>
              <a:buSzPts val="1100"/>
              <a:buFont typeface="Calibri"/>
              <a:buChar char="•"/>
            </a:pPr>
            <a:r>
              <a:rPr b="1" lang="es-CL">
                <a:solidFill>
                  <a:schemeClr val="lt1"/>
                </a:solidFill>
                <a:latin typeface="Calibri"/>
                <a:ea typeface="Calibri"/>
                <a:cs typeface="Calibri"/>
                <a:sym typeface="Calibri"/>
              </a:rPr>
              <a:t>Asistente de Documentación</a:t>
            </a:r>
            <a:endParaRPr b="1">
              <a:solidFill>
                <a:schemeClr val="dk1"/>
              </a:solidFill>
            </a:endParaRPr>
          </a:p>
          <a:p>
            <a:pPr indent="-184150" lvl="1" marL="228600" rtl="0" algn="l">
              <a:lnSpc>
                <a:spcPct val="90000"/>
              </a:lnSpc>
              <a:spcBef>
                <a:spcPts val="270"/>
              </a:spcBef>
              <a:spcAft>
                <a:spcPts val="0"/>
              </a:spcAft>
              <a:buClr>
                <a:schemeClr val="lt1"/>
              </a:buClr>
              <a:buSzPts val="900"/>
              <a:buFont typeface="Calibri"/>
              <a:buChar char="•"/>
            </a:pPr>
            <a:r>
              <a:rPr lang="es-CL" sz="1200">
                <a:solidFill>
                  <a:schemeClr val="lt1"/>
                </a:solidFill>
                <a:latin typeface="Calibri"/>
                <a:ea typeface="Calibri"/>
                <a:cs typeface="Calibri"/>
                <a:sym typeface="Calibri"/>
              </a:rPr>
              <a:t>Participó de forma limitada en el desarrollo del proyecto, colaborando principalmente en la elaboración de documentación específica.</a:t>
            </a:r>
            <a:endParaRPr sz="1200">
              <a:solidFill>
                <a:srgbClr val="FFFFFF"/>
              </a:solidFill>
              <a:latin typeface="Calibri"/>
              <a:ea typeface="Calibri"/>
              <a:cs typeface="Calibri"/>
              <a:sym typeface="Calibri"/>
            </a:endParaRPr>
          </a:p>
        </p:txBody>
      </p:sp>
      <p:grpSp>
        <p:nvGrpSpPr>
          <p:cNvPr id="111" name="Google Shape;111;g36733c1dde9_0_220"/>
          <p:cNvGrpSpPr/>
          <p:nvPr/>
        </p:nvGrpSpPr>
        <p:grpSpPr>
          <a:xfrm>
            <a:off x="4505238" y="5240915"/>
            <a:ext cx="7408312" cy="1309159"/>
            <a:chOff x="2040926" y="4192986"/>
            <a:chExt cx="7633500" cy="1359600"/>
          </a:xfrm>
        </p:grpSpPr>
        <p:sp>
          <p:nvSpPr>
            <p:cNvPr id="112" name="Google Shape;112;g36733c1dde9_0_220"/>
            <p:cNvSpPr/>
            <p:nvPr/>
          </p:nvSpPr>
          <p:spPr>
            <a:xfrm>
              <a:off x="2040926" y="4192986"/>
              <a:ext cx="7633500" cy="13596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13" name="Google Shape;113;g36733c1dde9_0_220"/>
            <p:cNvSpPr txBox="1"/>
            <p:nvPr/>
          </p:nvSpPr>
          <p:spPr>
            <a:xfrm>
              <a:off x="3890095" y="4257436"/>
              <a:ext cx="2864100" cy="448200"/>
            </a:xfrm>
            <a:prstGeom prst="rect">
              <a:avLst/>
            </a:prstGeom>
            <a:noFill/>
            <a:ln>
              <a:noFill/>
            </a:ln>
          </p:spPr>
          <p:txBody>
            <a:bodyPr anchorCtr="0" anchor="t" bIns="99050" lIns="99050" spcFirstLastPara="1" rIns="99050" wrap="square" tIns="99050">
              <a:noAutofit/>
            </a:bodyPr>
            <a:lstStyle/>
            <a:p>
              <a:pPr indent="0" lvl="0" marL="0" rtl="0" algn="l">
                <a:lnSpc>
                  <a:spcPct val="90000"/>
                </a:lnSpc>
                <a:spcBef>
                  <a:spcPts val="0"/>
                </a:spcBef>
                <a:spcAft>
                  <a:spcPts val="0"/>
                </a:spcAft>
                <a:buClr>
                  <a:schemeClr val="lt1"/>
                </a:buClr>
                <a:buSzPts val="2400"/>
                <a:buFont typeface="Calibri"/>
                <a:buNone/>
              </a:pPr>
              <a:r>
                <a:rPr lang="es-CL" sz="2400">
                  <a:solidFill>
                    <a:schemeClr val="lt1"/>
                  </a:solidFill>
                  <a:latin typeface="Calibri"/>
                  <a:ea typeface="Calibri"/>
                  <a:cs typeface="Calibri"/>
                  <a:sym typeface="Calibri"/>
                </a:rPr>
                <a:t>Felipe Flores</a:t>
              </a:r>
              <a:endParaRPr b="0" i="0" u="none" cap="none" strike="noStrike">
                <a:solidFill>
                  <a:srgbClr val="FFFFFF"/>
                </a:solidFill>
                <a:latin typeface="Calibri"/>
                <a:ea typeface="Calibri"/>
                <a:cs typeface="Calibri"/>
                <a:sym typeface="Calibri"/>
              </a:endParaRPr>
            </a:p>
          </p:txBody>
        </p:sp>
      </p:grpSp>
      <p:sp>
        <p:nvSpPr>
          <p:cNvPr id="114" name="Google Shape;114;g36733c1dde9_0_220"/>
          <p:cNvSpPr/>
          <p:nvPr/>
        </p:nvSpPr>
        <p:spPr>
          <a:xfrm>
            <a:off x="4747050" y="5240975"/>
            <a:ext cx="1481700" cy="13092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alibri"/>
              <a:ea typeface="Calibri"/>
              <a:cs typeface="Calibri"/>
              <a:sym typeface="Calibri"/>
            </a:endParaRPr>
          </a:p>
        </p:txBody>
      </p:sp>
      <p:sp>
        <p:nvSpPr>
          <p:cNvPr id="115" name="Google Shape;115;g36733c1dde9_0_220"/>
          <p:cNvSpPr txBox="1"/>
          <p:nvPr/>
        </p:nvSpPr>
        <p:spPr>
          <a:xfrm>
            <a:off x="6299927" y="5655298"/>
            <a:ext cx="5603100" cy="431700"/>
          </a:xfrm>
          <a:prstGeom prst="rect">
            <a:avLst/>
          </a:prstGeom>
          <a:noFill/>
          <a:ln>
            <a:noFill/>
          </a:ln>
        </p:spPr>
        <p:txBody>
          <a:bodyPr anchorCtr="0" anchor="t" bIns="99050" lIns="99050" spcFirstLastPara="1" rIns="99050" wrap="square" tIns="99050">
            <a:noAutofit/>
          </a:bodyPr>
          <a:lstStyle/>
          <a:p>
            <a:pPr indent="-184150" lvl="1" marL="228600" rtl="0" algn="l">
              <a:lnSpc>
                <a:spcPct val="90000"/>
              </a:lnSpc>
              <a:spcBef>
                <a:spcPts val="840"/>
              </a:spcBef>
              <a:spcAft>
                <a:spcPts val="0"/>
              </a:spcAft>
              <a:buClr>
                <a:schemeClr val="lt1"/>
              </a:buClr>
              <a:buSzPts val="1100"/>
              <a:buFont typeface="Calibri"/>
              <a:buChar char="•"/>
            </a:pPr>
            <a:r>
              <a:rPr b="1" lang="es-CL">
                <a:solidFill>
                  <a:schemeClr val="lt1"/>
                </a:solidFill>
                <a:latin typeface="Calibri"/>
                <a:ea typeface="Calibri"/>
                <a:cs typeface="Calibri"/>
                <a:sym typeface="Calibri"/>
              </a:rPr>
              <a:t>Líder de Proyecto / Coordinador General</a:t>
            </a:r>
            <a:endParaRPr b="1">
              <a:solidFill>
                <a:schemeClr val="dk1"/>
              </a:solidFill>
            </a:endParaRPr>
          </a:p>
          <a:p>
            <a:pPr indent="-184150" lvl="1" marL="228600" rtl="0" algn="l">
              <a:lnSpc>
                <a:spcPct val="90000"/>
              </a:lnSpc>
              <a:spcBef>
                <a:spcPts val="270"/>
              </a:spcBef>
              <a:spcAft>
                <a:spcPts val="0"/>
              </a:spcAft>
              <a:buClr>
                <a:schemeClr val="lt1"/>
              </a:buClr>
              <a:buSzPts val="900"/>
              <a:buFont typeface="Calibri"/>
              <a:buChar char="•"/>
            </a:pPr>
            <a:r>
              <a:rPr lang="es-CL" sz="1200">
                <a:solidFill>
                  <a:schemeClr val="lt1"/>
                </a:solidFill>
                <a:latin typeface="Calibri"/>
                <a:ea typeface="Calibri"/>
                <a:cs typeface="Calibri"/>
                <a:sym typeface="Calibri"/>
              </a:rPr>
              <a:t>Responsable de la organización general del proyecto, incluyendo la planificación de tareas y la creación documentación principal. También desarrolló código que, aunque no fue utilizado en la versión final, apoyó el proceso de exploración técnica.</a:t>
            </a:r>
            <a:endParaRPr sz="1200">
              <a:solidFill>
                <a:srgbClr val="FFFFFF"/>
              </a:solidFill>
              <a:latin typeface="Calibri"/>
              <a:ea typeface="Calibri"/>
              <a:cs typeface="Calibri"/>
              <a:sym typeface="Calibri"/>
            </a:endParaRPr>
          </a:p>
        </p:txBody>
      </p:sp>
      <p:pic>
        <p:nvPicPr>
          <p:cNvPr id="116" name="Google Shape;116;g36733c1dde9_0_220"/>
          <p:cNvPicPr preferRelativeResize="0"/>
          <p:nvPr/>
        </p:nvPicPr>
        <p:blipFill>
          <a:blip r:embed="rId5">
            <a:alphaModFix/>
          </a:blip>
          <a:stretch>
            <a:fillRect/>
          </a:stretch>
        </p:blipFill>
        <p:spPr>
          <a:xfrm>
            <a:off x="5065488" y="2535810"/>
            <a:ext cx="844792" cy="1047301"/>
          </a:xfrm>
          <a:prstGeom prst="rect">
            <a:avLst/>
          </a:prstGeom>
          <a:noFill/>
          <a:ln>
            <a:noFill/>
          </a:ln>
        </p:spPr>
      </p:pic>
      <p:pic>
        <p:nvPicPr>
          <p:cNvPr id="117" name="Google Shape;117;g36733c1dde9_0_220"/>
          <p:cNvPicPr preferRelativeResize="0"/>
          <p:nvPr/>
        </p:nvPicPr>
        <p:blipFill>
          <a:blip r:embed="rId6">
            <a:alphaModFix/>
          </a:blip>
          <a:stretch>
            <a:fillRect/>
          </a:stretch>
        </p:blipFill>
        <p:spPr>
          <a:xfrm>
            <a:off x="5093476" y="3923474"/>
            <a:ext cx="738349" cy="1025801"/>
          </a:xfrm>
          <a:prstGeom prst="rect">
            <a:avLst/>
          </a:prstGeom>
          <a:solidFill>
            <a:srgbClr val="C3D4EB"/>
          </a:solidFill>
          <a:ln>
            <a:noFill/>
          </a:ln>
          <a:effectLst>
            <a:outerShdw blurRad="57150" rotWithShape="0" algn="ctr" dir="5400000" dist="19050">
              <a:srgbClr val="000000">
                <a:alpha val="62750"/>
              </a:srgbClr>
            </a:outerShdw>
          </a:effectLst>
        </p:spPr>
      </p:pic>
      <p:pic>
        <p:nvPicPr>
          <p:cNvPr id="118" name="Google Shape;118;g36733c1dde9_0_220"/>
          <p:cNvPicPr preferRelativeResize="0"/>
          <p:nvPr/>
        </p:nvPicPr>
        <p:blipFill rotWithShape="1">
          <a:blip r:embed="rId7">
            <a:alphaModFix/>
          </a:blip>
          <a:srcRect b="32008" l="23285" r="17794" t="28687"/>
          <a:stretch/>
        </p:blipFill>
        <p:spPr>
          <a:xfrm>
            <a:off x="4981684" y="5311150"/>
            <a:ext cx="1012429" cy="1200599"/>
          </a:xfrm>
          <a:prstGeom prst="rect">
            <a:avLst/>
          </a:prstGeom>
          <a:noFill/>
          <a:ln>
            <a:noFill/>
          </a:ln>
        </p:spPr>
      </p:pic>
      <p:pic>
        <p:nvPicPr>
          <p:cNvPr id="119" name="Google Shape;119;g36733c1dde9_0_220" title="perfil.jpg"/>
          <p:cNvPicPr preferRelativeResize="0"/>
          <p:nvPr/>
        </p:nvPicPr>
        <p:blipFill>
          <a:blip r:embed="rId8">
            <a:alphaModFix/>
          </a:blip>
          <a:stretch>
            <a:fillRect/>
          </a:stretch>
        </p:blipFill>
        <p:spPr>
          <a:xfrm>
            <a:off x="5040262" y="1113942"/>
            <a:ext cx="844774" cy="10097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EscuelaIT Duoc UC - Escuela de Informática y Telecomunicaciones Duoc UC - Duoc  UC | LinkedIn" id="124" name="Google Shape;124;p3"/>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25" name="Google Shape;125;p3"/>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126" name="Google Shape;126;p3"/>
          <p:cNvSpPr txBox="1"/>
          <p:nvPr/>
        </p:nvSpPr>
        <p:spPr>
          <a:xfrm>
            <a:off x="0" y="113084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DESCRIPCIÓN DEL PROYECTO</a:t>
            </a:r>
            <a:endParaRPr sz="1800">
              <a:solidFill>
                <a:schemeClr val="dk1"/>
              </a:solidFill>
              <a:latin typeface="Calibri"/>
              <a:ea typeface="Calibri"/>
              <a:cs typeface="Calibri"/>
              <a:sym typeface="Calibri"/>
            </a:endParaRPr>
          </a:p>
        </p:txBody>
      </p:sp>
      <p:cxnSp>
        <p:nvCxnSpPr>
          <p:cNvPr id="127" name="Google Shape;127;p3"/>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sp>
        <p:nvSpPr>
          <p:cNvPr id="128" name="Google Shape;128;p3"/>
          <p:cNvSpPr/>
          <p:nvPr/>
        </p:nvSpPr>
        <p:spPr>
          <a:xfrm>
            <a:off x="714900" y="2329450"/>
            <a:ext cx="4348800" cy="3268200"/>
          </a:xfrm>
          <a:prstGeom prst="roundRect">
            <a:avLst>
              <a:gd fmla="val 10901" name="adj"/>
            </a:avLst>
          </a:prstGeom>
          <a:solidFill>
            <a:srgbClr val="EAF1FE"/>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Problema o dolor</a:t>
            </a:r>
            <a:endParaRPr sz="1800" u="sng">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sz="1600">
                <a:solidFill>
                  <a:schemeClr val="dk1"/>
                </a:solidFill>
                <a:latin typeface="Calibri"/>
                <a:ea typeface="Calibri"/>
                <a:cs typeface="Calibri"/>
                <a:sym typeface="Calibri"/>
              </a:rPr>
              <a:t>Hoy en día, los contenidos audiovisuales presentan barreras de accesibilidad para personas sordas o con discapacidad auditiva, especialmente cuando no hay un intérprete de Lengua de Señas Chilena (LSCh). La falta de traducción en tiempo real en televisión, transmisiones en vivo o plataformas digitales limita su acceso a la información y su derecho a comunicarse plenamente en la sociedad.</a:t>
            </a:r>
            <a:endParaRPr sz="2000" u="sng">
              <a:solidFill>
                <a:schemeClr val="dk1"/>
              </a:solidFill>
              <a:latin typeface="Calibri"/>
              <a:ea typeface="Calibri"/>
              <a:cs typeface="Calibri"/>
              <a:sym typeface="Calibri"/>
            </a:endParaRPr>
          </a:p>
        </p:txBody>
      </p:sp>
      <p:sp>
        <p:nvSpPr>
          <p:cNvPr id="129" name="Google Shape;129;p3"/>
          <p:cNvSpPr/>
          <p:nvPr/>
        </p:nvSpPr>
        <p:spPr>
          <a:xfrm>
            <a:off x="7128300" y="2329450"/>
            <a:ext cx="4348800" cy="3268200"/>
          </a:xfrm>
          <a:prstGeom prst="roundRect">
            <a:avLst>
              <a:gd fmla="val 10901" name="adj"/>
            </a:avLst>
          </a:prstGeom>
          <a:solidFill>
            <a:srgbClr val="EAF1FE"/>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Propuesta de solución</a:t>
            </a:r>
            <a:endParaRPr sz="1800" u="sng">
              <a:solidFill>
                <a:schemeClr val="dk1"/>
              </a:solidFill>
              <a:latin typeface="Calibri"/>
              <a:ea typeface="Calibri"/>
              <a:cs typeface="Calibri"/>
              <a:sym typeface="Calibri"/>
            </a:endParaRPr>
          </a:p>
          <a:p>
            <a:pPr indent="0" lvl="0" marL="0" rtl="0" algn="just">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s-CL" sz="1600">
                <a:solidFill>
                  <a:schemeClr val="dk1"/>
                </a:solidFill>
                <a:latin typeface="Calibri"/>
                <a:ea typeface="Calibri"/>
                <a:cs typeface="Calibri"/>
                <a:sym typeface="Calibri"/>
              </a:rPr>
              <a:t>Se propone un sistema autónomo que traduce audio a Lengua de Señas Chilena en tiempo real, usando inteligencia artificial, un dataset propio y un avatar digital. Canal 13 podrá integrarlo en sus plataformas, con más del 90 % de precisión y menos de 3 segundos de latencia, mejorando la accesibilidad e inclusión de la comunidad sorda.</a:t>
            </a:r>
            <a:endParaRPr sz="16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p:nvPr/>
        </p:nvSpPr>
        <p:spPr>
          <a:xfrm>
            <a:off x="5525703" y="3377208"/>
            <a:ext cx="1140600" cy="757200"/>
          </a:xfrm>
          <a:prstGeom prst="rightArrow">
            <a:avLst>
              <a:gd fmla="val 50000" name="adj1"/>
              <a:gd fmla="val 50000" name="adj2"/>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g36733c1dde9_0_0"/>
          <p:cNvPicPr preferRelativeResize="0"/>
          <p:nvPr/>
        </p:nvPicPr>
        <p:blipFill>
          <a:blip r:embed="rId4">
            <a:alphaModFix/>
          </a:blip>
          <a:stretch>
            <a:fillRect/>
          </a:stretch>
        </p:blipFill>
        <p:spPr>
          <a:xfrm flipH="1" rot="10800000">
            <a:off x="4327103" y="4144349"/>
            <a:ext cx="2939747" cy="1957868"/>
          </a:xfrm>
          <a:prstGeom prst="rect">
            <a:avLst/>
          </a:prstGeom>
          <a:noFill/>
          <a:ln>
            <a:noFill/>
          </a:ln>
        </p:spPr>
      </p:pic>
      <p:pic>
        <p:nvPicPr>
          <p:cNvPr id="136" name="Google Shape;136;g36733c1dde9_0_0"/>
          <p:cNvPicPr preferRelativeResize="0"/>
          <p:nvPr/>
        </p:nvPicPr>
        <p:blipFill>
          <a:blip r:embed="rId5">
            <a:alphaModFix/>
          </a:blip>
          <a:stretch>
            <a:fillRect/>
          </a:stretch>
        </p:blipFill>
        <p:spPr>
          <a:xfrm>
            <a:off x="4327111" y="1953050"/>
            <a:ext cx="2939745" cy="1954893"/>
          </a:xfrm>
          <a:prstGeom prst="rect">
            <a:avLst/>
          </a:prstGeom>
          <a:noFill/>
          <a:ln>
            <a:noFill/>
          </a:ln>
        </p:spPr>
      </p:pic>
      <p:pic>
        <p:nvPicPr>
          <p:cNvPr id="137" name="Google Shape;137;g36733c1dde9_0_0"/>
          <p:cNvPicPr preferRelativeResize="0"/>
          <p:nvPr/>
        </p:nvPicPr>
        <p:blipFill>
          <a:blip r:embed="rId6">
            <a:alphaModFix/>
          </a:blip>
          <a:stretch>
            <a:fillRect/>
          </a:stretch>
        </p:blipFill>
        <p:spPr>
          <a:xfrm>
            <a:off x="7368063" y="2016507"/>
            <a:ext cx="3445357" cy="4095842"/>
          </a:xfrm>
          <a:prstGeom prst="rect">
            <a:avLst/>
          </a:prstGeom>
          <a:noFill/>
          <a:ln>
            <a:noFill/>
          </a:ln>
        </p:spPr>
      </p:pic>
      <p:pic>
        <p:nvPicPr>
          <p:cNvPr id="138" name="Google Shape;138;g36733c1dde9_0_0"/>
          <p:cNvPicPr preferRelativeResize="0"/>
          <p:nvPr/>
        </p:nvPicPr>
        <p:blipFill>
          <a:blip r:embed="rId7">
            <a:alphaModFix/>
          </a:blip>
          <a:stretch>
            <a:fillRect/>
          </a:stretch>
        </p:blipFill>
        <p:spPr>
          <a:xfrm>
            <a:off x="7368052" y="2016418"/>
            <a:ext cx="3459761" cy="4095836"/>
          </a:xfrm>
          <a:prstGeom prst="rect">
            <a:avLst/>
          </a:prstGeom>
          <a:noFill/>
          <a:ln>
            <a:noFill/>
          </a:ln>
        </p:spPr>
      </p:pic>
      <p:sp>
        <p:nvSpPr>
          <p:cNvPr id="139" name="Google Shape;139;g36733c1dde9_0_0"/>
          <p:cNvSpPr txBox="1"/>
          <p:nvPr/>
        </p:nvSpPr>
        <p:spPr>
          <a:xfrm>
            <a:off x="2520900" y="978300"/>
            <a:ext cx="7150200" cy="6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3600">
                <a:solidFill>
                  <a:schemeClr val="dk1"/>
                </a:solidFill>
                <a:latin typeface="Calibri"/>
                <a:ea typeface="Calibri"/>
                <a:cs typeface="Calibri"/>
                <a:sym typeface="Calibri"/>
              </a:rPr>
              <a:t>IMÁGENES</a:t>
            </a:r>
            <a:r>
              <a:rPr lang="es-CL" sz="3600">
                <a:solidFill>
                  <a:schemeClr val="dk1"/>
                </a:solidFill>
                <a:latin typeface="Calibri"/>
                <a:ea typeface="Calibri"/>
                <a:cs typeface="Calibri"/>
                <a:sym typeface="Calibri"/>
              </a:rPr>
              <a:t> DE LA VISITA A CANAL 13</a:t>
            </a:r>
            <a:endParaRPr sz="3600">
              <a:solidFill>
                <a:schemeClr val="dk1"/>
              </a:solidFill>
              <a:latin typeface="Calibri"/>
              <a:ea typeface="Calibri"/>
              <a:cs typeface="Calibri"/>
              <a:sym typeface="Calibri"/>
            </a:endParaRPr>
          </a:p>
        </p:txBody>
      </p:sp>
      <p:pic>
        <p:nvPicPr>
          <p:cNvPr id="140" name="Google Shape;140;g36733c1dde9_0_0"/>
          <p:cNvPicPr preferRelativeResize="0"/>
          <p:nvPr/>
        </p:nvPicPr>
        <p:blipFill>
          <a:blip r:embed="rId8">
            <a:alphaModFix/>
          </a:blip>
          <a:stretch>
            <a:fillRect/>
          </a:stretch>
        </p:blipFill>
        <p:spPr>
          <a:xfrm>
            <a:off x="1364188" y="2016524"/>
            <a:ext cx="2706930" cy="4095826"/>
          </a:xfrm>
          <a:prstGeom prst="rect">
            <a:avLst/>
          </a:prstGeom>
          <a:noFill/>
          <a:ln>
            <a:noFill/>
          </a:ln>
        </p:spPr>
      </p:pic>
      <p:pic>
        <p:nvPicPr>
          <p:cNvPr descr="EscuelaIT Duoc UC - Escuela de Informática y Telecomunicaciones Duoc UC - Duoc  UC | LinkedIn" id="141" name="Google Shape;141;g36733c1dde9_0_0"/>
          <p:cNvPicPr preferRelativeResize="0"/>
          <p:nvPr/>
        </p:nvPicPr>
        <p:blipFill rotWithShape="1">
          <a:blip r:embed="rId9">
            <a:alphaModFix/>
          </a:blip>
          <a:srcRect b="0" l="0" r="0" t="0"/>
          <a:stretch/>
        </p:blipFill>
        <p:spPr>
          <a:xfrm>
            <a:off x="8772152" y="207550"/>
            <a:ext cx="3141406" cy="785352"/>
          </a:xfrm>
          <a:prstGeom prst="rect">
            <a:avLst/>
          </a:prstGeom>
          <a:noFill/>
          <a:ln>
            <a:noFill/>
          </a:ln>
        </p:spPr>
      </p:pic>
      <p:sp>
        <p:nvSpPr>
          <p:cNvPr id="142" name="Google Shape;142;g36733c1dde9_0_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EscuelaIT Duoc UC - Escuela de Informática y Telecomunicaciones Duoc UC - Duoc  UC | LinkedIn" id="147" name="Google Shape;147;g369ae16c13d_0_177"/>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48" name="Google Shape;148;g369ae16c13d_0_177"/>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149" name="Google Shape;149;g369ae16c13d_0_177"/>
          <p:cNvSpPr txBox="1"/>
          <p:nvPr/>
        </p:nvSpPr>
        <p:spPr>
          <a:xfrm>
            <a:off x="0" y="1125762"/>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ESTADO DEL ARTE</a:t>
            </a:r>
            <a:endParaRPr sz="3600">
              <a:solidFill>
                <a:schemeClr val="dk1"/>
              </a:solidFill>
              <a:latin typeface="Calibri"/>
              <a:ea typeface="Calibri"/>
              <a:cs typeface="Calibri"/>
              <a:sym typeface="Calibri"/>
            </a:endParaRPr>
          </a:p>
        </p:txBody>
      </p:sp>
      <p:graphicFrame>
        <p:nvGraphicFramePr>
          <p:cNvPr id="150" name="Google Shape;150;g369ae16c13d_0_177"/>
          <p:cNvGraphicFramePr/>
          <p:nvPr/>
        </p:nvGraphicFramePr>
        <p:xfrm>
          <a:off x="576088" y="2029875"/>
          <a:ext cx="3000000" cy="3000000"/>
        </p:xfrm>
        <a:graphic>
          <a:graphicData uri="http://schemas.openxmlformats.org/drawingml/2006/table">
            <a:tbl>
              <a:tblPr>
                <a:noFill/>
                <a:tableStyleId>{CEA2587F-D6CE-4157-AD05-9171BBE57124}</a:tableStyleId>
              </a:tblPr>
              <a:tblGrid>
                <a:gridCol w="11131800"/>
              </a:tblGrid>
              <a:tr h="751950">
                <a:tc>
                  <a:txBody>
                    <a:bodyPr/>
                    <a:lstStyle/>
                    <a:p>
                      <a:pPr indent="0" lvl="0" marL="0" rtl="0" algn="ctr">
                        <a:spcBef>
                          <a:spcPts val="0"/>
                        </a:spcBef>
                        <a:spcAft>
                          <a:spcPts val="0"/>
                        </a:spcAft>
                        <a:buClr>
                          <a:schemeClr val="dk1"/>
                        </a:buClr>
                        <a:buSzPts val="1100"/>
                        <a:buFont typeface="Arial"/>
                        <a:buNone/>
                      </a:pPr>
                      <a:r>
                        <a:rPr i="1" lang="es-CL">
                          <a:solidFill>
                            <a:schemeClr val="dk1"/>
                          </a:solidFill>
                          <a:latin typeface="Calibri"/>
                          <a:ea typeface="Calibri"/>
                          <a:cs typeface="Calibri"/>
                          <a:sym typeface="Calibri"/>
                        </a:rPr>
                        <a:t>Camgöz, N. C., Koller, O., Hadfield, S. y Bowden, R. (2020). Transformadores para lenguaje de señas: Reconocimiento y traducción conjunta de lenguaje de señas de extremo a extremo. En Actas de la Conferencia IEEE/CVF sobre Visión por Computador y Reconocimiento de Patrones (CVPR)(pp.10023–10033). IEEE.</a:t>
                      </a:r>
                      <a:endParaRPr i="1" sz="1800">
                        <a:latin typeface="Calibri"/>
                        <a:ea typeface="Calibri"/>
                        <a:cs typeface="Calibri"/>
                        <a:sym typeface="Calibri"/>
                      </a:endParaRPr>
                    </a:p>
                  </a:txBody>
                  <a:tcPr marT="91425" marB="91425" marR="91425" marL="91425" anchor="ctr">
                    <a:solidFill>
                      <a:srgbClr val="A4C2F4"/>
                    </a:solidFill>
                  </a:tcPr>
                </a:tc>
              </a:tr>
              <a:tr h="538700">
                <a:tc>
                  <a:txBody>
                    <a:bodyPr/>
                    <a:lstStyle/>
                    <a:p>
                      <a:pPr indent="0" lvl="0" marL="0" rtl="0" algn="ctr">
                        <a:spcBef>
                          <a:spcPts val="0"/>
                        </a:spcBef>
                        <a:spcAft>
                          <a:spcPts val="0"/>
                        </a:spcAft>
                        <a:buClr>
                          <a:schemeClr val="dk1"/>
                        </a:buClr>
                        <a:buSzPts val="1100"/>
                        <a:buFont typeface="Arial"/>
                        <a:buNone/>
                      </a:pPr>
                      <a:r>
                        <a:rPr lang="es-CL" u="sng">
                          <a:solidFill>
                            <a:schemeClr val="hlink"/>
                          </a:solidFill>
                          <a:latin typeface="Calibri"/>
                          <a:ea typeface="Calibri"/>
                          <a:cs typeface="Calibri"/>
                          <a:sym typeface="Calibri"/>
                          <a:hlinkClick r:id="rId5"/>
                        </a:rPr>
                        <a:t>https://openaccess.thecvf.com/content_CVPR_2020/papers/Camgoz_Sign_Language_Transformers_Joint_End-to-End_Sign_Language_Recognition_and_Translation_CVPR_2020_paper.pdf</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51" name="Google Shape;151;g369ae16c13d_0_177"/>
          <p:cNvGraphicFramePr/>
          <p:nvPr/>
        </p:nvGraphicFramePr>
        <p:xfrm>
          <a:off x="576088" y="3633575"/>
          <a:ext cx="3000000" cy="3000000"/>
        </p:xfrm>
        <a:graphic>
          <a:graphicData uri="http://schemas.openxmlformats.org/drawingml/2006/table">
            <a:tbl>
              <a:tblPr>
                <a:noFill/>
                <a:tableStyleId>{CEA2587F-D6CE-4157-AD05-9171BBE57124}</a:tableStyleId>
              </a:tblPr>
              <a:tblGrid>
                <a:gridCol w="11131800"/>
              </a:tblGrid>
              <a:tr h="747175">
                <a:tc>
                  <a:txBody>
                    <a:bodyPr/>
                    <a:lstStyle/>
                    <a:p>
                      <a:pPr indent="0" lvl="0" marL="0" rtl="0" algn="ctr">
                        <a:spcBef>
                          <a:spcPts val="0"/>
                        </a:spcBef>
                        <a:spcAft>
                          <a:spcPts val="0"/>
                        </a:spcAft>
                        <a:buClr>
                          <a:schemeClr val="dk1"/>
                        </a:buClr>
                        <a:buSzPts val="1100"/>
                        <a:buFont typeface="Arial"/>
                        <a:buNone/>
                      </a:pPr>
                      <a:r>
                        <a:rPr i="1" lang="es-CL">
                          <a:solidFill>
                            <a:schemeClr val="dk1"/>
                          </a:solidFill>
                          <a:latin typeface="Calibri"/>
                          <a:ea typeface="Calibri"/>
                          <a:cs typeface="Calibri"/>
                          <a:sym typeface="Calibri"/>
                        </a:rPr>
                        <a:t>Camgöz, N. C., Koller, O., Hadfield, S. y Bowden, R. (2020).</a:t>
                      </a:r>
                      <a:endParaRPr i="1">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i="1" lang="es-CL">
                          <a:solidFill>
                            <a:schemeClr val="dk1"/>
                          </a:solidFill>
                          <a:latin typeface="Calibri"/>
                          <a:ea typeface="Calibri"/>
                          <a:cs typeface="Calibri"/>
                          <a:sym typeface="Calibri"/>
                        </a:rPr>
                        <a:t>Transformadores multicanal para la traducción de lenguaje de señas multi‑articulatorio. En Actas del European Conference on Computer Vision (ECCV) – Talleres (pp. 301–319). Springer.</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58875">
                <a:tc>
                  <a:txBody>
                    <a:bodyPr/>
                    <a:lstStyle/>
                    <a:p>
                      <a:pPr indent="0" lvl="0" marL="0" rtl="0" algn="ctr">
                        <a:spcBef>
                          <a:spcPts val="0"/>
                        </a:spcBef>
                        <a:spcAft>
                          <a:spcPts val="0"/>
                        </a:spcAft>
                        <a:buClr>
                          <a:schemeClr val="dk1"/>
                        </a:buClr>
                        <a:buSzPts val="1100"/>
                        <a:buFont typeface="Arial"/>
                        <a:buNone/>
                      </a:pPr>
                      <a:r>
                        <a:rPr lang="es-CL" u="sng">
                          <a:solidFill>
                            <a:schemeClr val="hlink"/>
                          </a:solidFill>
                          <a:latin typeface="Calibri"/>
                          <a:ea typeface="Calibri"/>
                          <a:cs typeface="Calibri"/>
                          <a:sym typeface="Calibri"/>
                          <a:hlinkClick r:id="rId6"/>
                        </a:rPr>
                        <a:t>https://personalpages.surrey.ac.uk/s.hadfield/papers/Camgoz20b.pdf</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52" name="Google Shape;152;g369ae16c13d_0_177"/>
          <p:cNvGraphicFramePr/>
          <p:nvPr/>
        </p:nvGraphicFramePr>
        <p:xfrm>
          <a:off x="576088" y="5135000"/>
          <a:ext cx="3000000" cy="3000000"/>
        </p:xfrm>
        <a:graphic>
          <a:graphicData uri="http://schemas.openxmlformats.org/drawingml/2006/table">
            <a:tbl>
              <a:tblPr>
                <a:noFill/>
                <a:tableStyleId>{CEA2587F-D6CE-4157-AD05-9171BBE57124}</a:tableStyleId>
              </a:tblPr>
              <a:tblGrid>
                <a:gridCol w="11131800"/>
              </a:tblGrid>
              <a:tr h="666700">
                <a:tc>
                  <a:txBody>
                    <a:bodyPr/>
                    <a:lstStyle/>
                    <a:p>
                      <a:pPr indent="0" lvl="0" marL="0" rtl="0" algn="ctr">
                        <a:spcBef>
                          <a:spcPts val="0"/>
                        </a:spcBef>
                        <a:spcAft>
                          <a:spcPts val="0"/>
                        </a:spcAft>
                        <a:buNone/>
                      </a:pPr>
                      <a:r>
                        <a:rPr i="1" lang="es-CL">
                          <a:solidFill>
                            <a:schemeClr val="dk1"/>
                          </a:solidFill>
                          <a:latin typeface="Calibri"/>
                          <a:ea typeface="Calibri"/>
                          <a:cs typeface="Calibri"/>
                          <a:sym typeface="Calibri"/>
                        </a:rPr>
                        <a:t>OpenAI. (2022–2023). Whisper. En Wikipédia. “modelo de reconocimiento de voz… basado en arquitectura encoder-decoder transformer” (OpenAI, 2022/2023)</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95625">
                <a:tc>
                  <a:txBody>
                    <a:bodyPr/>
                    <a:lstStyle/>
                    <a:p>
                      <a:pPr indent="0" lvl="0" marL="0" rtl="0" algn="ctr">
                        <a:spcBef>
                          <a:spcPts val="0"/>
                        </a:spcBef>
                        <a:spcAft>
                          <a:spcPts val="0"/>
                        </a:spcAft>
                        <a:buClr>
                          <a:schemeClr val="dk1"/>
                        </a:buClr>
                        <a:buSzPts val="1100"/>
                        <a:buFont typeface="Arial"/>
                        <a:buNone/>
                      </a:pPr>
                      <a:r>
                        <a:rPr lang="es-CL" u="sng">
                          <a:solidFill>
                            <a:schemeClr val="hlink"/>
                          </a:solidFill>
                          <a:latin typeface="Calibri"/>
                          <a:ea typeface="Calibri"/>
                          <a:cs typeface="Calibri"/>
                          <a:sym typeface="Calibri"/>
                          <a:hlinkClick r:id="rId7"/>
                        </a:rPr>
                        <a:t>https://en.wikipedia.org/wiki/Whisper_%28speech_recognition_system%29</a:t>
                      </a:r>
                      <a:endParaRPr b="1">
                        <a:latin typeface="Calibri"/>
                        <a:ea typeface="Calibri"/>
                        <a:cs typeface="Calibri"/>
                        <a:sym typeface="Calibri"/>
                      </a:endParaRPr>
                    </a:p>
                  </a:txBody>
                  <a:tcPr marT="91425" marB="91425" marR="91425" marL="91425" anchor="ctr">
                    <a:solidFill>
                      <a:srgbClr val="EAF1FE"/>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EscuelaIT Duoc UC - Escuela de Informática y Telecomunicaciones Duoc UC - Duoc  UC | LinkedIn" id="157" name="Google Shape;157;g369ae16c13d_0_201"/>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58" name="Google Shape;158;g369ae16c13d_0_201"/>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159" name="Google Shape;159;g369ae16c13d_0_201"/>
          <p:cNvSpPr txBox="1"/>
          <p:nvPr/>
        </p:nvSpPr>
        <p:spPr>
          <a:xfrm>
            <a:off x="0" y="1125762"/>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ESTADO DEL ARTE</a:t>
            </a:r>
            <a:endParaRPr sz="3600">
              <a:solidFill>
                <a:schemeClr val="dk1"/>
              </a:solidFill>
              <a:latin typeface="Calibri"/>
              <a:ea typeface="Calibri"/>
              <a:cs typeface="Calibri"/>
              <a:sym typeface="Calibri"/>
            </a:endParaRPr>
          </a:p>
        </p:txBody>
      </p:sp>
      <p:graphicFrame>
        <p:nvGraphicFramePr>
          <p:cNvPr id="160" name="Google Shape;160;g369ae16c13d_0_201"/>
          <p:cNvGraphicFramePr/>
          <p:nvPr/>
        </p:nvGraphicFramePr>
        <p:xfrm>
          <a:off x="576088" y="2029875"/>
          <a:ext cx="3000000" cy="3000000"/>
        </p:xfrm>
        <a:graphic>
          <a:graphicData uri="http://schemas.openxmlformats.org/drawingml/2006/table">
            <a:tbl>
              <a:tblPr>
                <a:noFill/>
                <a:tableStyleId>{CEA2587F-D6CE-4157-AD05-9171BBE57124}</a:tableStyleId>
              </a:tblPr>
              <a:tblGrid>
                <a:gridCol w="11131800"/>
              </a:tblGrid>
              <a:tr h="751950">
                <a:tc>
                  <a:txBody>
                    <a:bodyPr/>
                    <a:lstStyle/>
                    <a:p>
                      <a:pPr indent="0" lvl="0" marL="0" rtl="0" algn="ctr">
                        <a:spcBef>
                          <a:spcPts val="0"/>
                        </a:spcBef>
                        <a:spcAft>
                          <a:spcPts val="0"/>
                        </a:spcAft>
                        <a:buNone/>
                      </a:pPr>
                      <a:r>
                        <a:rPr i="1" lang="es-CL">
                          <a:solidFill>
                            <a:schemeClr val="dk1"/>
                          </a:solidFill>
                          <a:latin typeface="Calibri"/>
                          <a:ea typeface="Calibri"/>
                          <a:cs typeface="Calibri"/>
                          <a:sym typeface="Calibri"/>
                        </a:rPr>
                        <a:t>De Coster, M., D’Oosterlinck, K., Pizurica, M., Rabaey, P., Verlinden, S., Van Herreweghe, M. y Dambre, J. (2021). Transformers preentrenados congelados para la traducción neural de lengua de señas. En Proceedings of the 1st International Workshop on Automatic Translation for Signed and Spoken Languages (AT4SSL) (pp. 88‑97). AMTA.</a:t>
                      </a:r>
                      <a:endParaRPr i="1" sz="1800">
                        <a:latin typeface="Calibri"/>
                        <a:ea typeface="Calibri"/>
                        <a:cs typeface="Calibri"/>
                        <a:sym typeface="Calibri"/>
                      </a:endParaRPr>
                    </a:p>
                  </a:txBody>
                  <a:tcPr marT="91425" marB="91425" marR="91425" marL="91425" anchor="ctr">
                    <a:solidFill>
                      <a:srgbClr val="A4C2F4"/>
                    </a:solidFill>
                  </a:tcPr>
                </a:tc>
              </a:tr>
              <a:tr h="538700">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5"/>
                        </a:rPr>
                        <a:t>https://aclanthology.org/2021.mtsummit-at4ssl.10.pdf</a:t>
                      </a:r>
                      <a:r>
                        <a:rPr lang="es-CL">
                          <a:solidFill>
                            <a:schemeClr val="dk1"/>
                          </a:solidFill>
                          <a:latin typeface="Calibri"/>
                          <a:ea typeface="Calibri"/>
                          <a:cs typeface="Calibri"/>
                          <a:sym typeface="Calibri"/>
                        </a:rPr>
                        <a:t> </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61" name="Google Shape;161;g369ae16c13d_0_201"/>
          <p:cNvGraphicFramePr/>
          <p:nvPr/>
        </p:nvGraphicFramePr>
        <p:xfrm>
          <a:off x="576088" y="3633575"/>
          <a:ext cx="3000000" cy="3000000"/>
        </p:xfrm>
        <a:graphic>
          <a:graphicData uri="http://schemas.openxmlformats.org/drawingml/2006/table">
            <a:tbl>
              <a:tblPr>
                <a:noFill/>
                <a:tableStyleId>{CEA2587F-D6CE-4157-AD05-9171BBE57124}</a:tableStyleId>
              </a:tblPr>
              <a:tblGrid>
                <a:gridCol w="11131800"/>
              </a:tblGrid>
              <a:tr h="747175">
                <a:tc>
                  <a:txBody>
                    <a:bodyPr/>
                    <a:lstStyle/>
                    <a:p>
                      <a:pPr indent="0" lvl="0" marL="0" rtl="0" algn="ctr">
                        <a:spcBef>
                          <a:spcPts val="0"/>
                        </a:spcBef>
                        <a:spcAft>
                          <a:spcPts val="0"/>
                        </a:spcAft>
                        <a:buNone/>
                      </a:pPr>
                      <a:r>
                        <a:rPr i="1" lang="es-CL">
                          <a:solidFill>
                            <a:schemeClr val="dk1"/>
                          </a:solidFill>
                          <a:latin typeface="Calibri"/>
                          <a:ea typeface="Calibri"/>
                          <a:cs typeface="Calibri"/>
                          <a:sym typeface="Calibri"/>
                        </a:rPr>
                        <a:t>Biblioteca del Congreso Nacional de Chile. (2021, 15 de enero). Ley Nº 21.303 que modifica la Ley Nº 20.422 para promover el uso de la Lengua de Señas Chilena. Diario Oficial. </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58875">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6"/>
                        </a:rPr>
                        <a:t>http://www.leychile.cl/N?i=1154963&amp;t=0</a:t>
                      </a:r>
                      <a:r>
                        <a:rPr lang="es-CL">
                          <a:solidFill>
                            <a:schemeClr val="dk1"/>
                          </a:solidFill>
                          <a:latin typeface="Calibri"/>
                          <a:ea typeface="Calibri"/>
                          <a:cs typeface="Calibri"/>
                          <a:sym typeface="Calibri"/>
                        </a:rPr>
                        <a:t>  </a:t>
                      </a:r>
                      <a:r>
                        <a:rPr lang="es-CL" u="sng">
                          <a:solidFill>
                            <a:schemeClr val="hlink"/>
                          </a:solidFill>
                          <a:latin typeface="Calibri"/>
                          <a:ea typeface="Calibri"/>
                          <a:cs typeface="Calibri"/>
                          <a:sym typeface="Calibri"/>
                          <a:hlinkClick r:id="rId7"/>
                        </a:rPr>
                        <a:t>https://www.bcn.cl/historiadelaley/fileadmin/file_ley/7837/HLD_7837_37a6259cc0c1dae299a7866489dff0bd.pdf</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62" name="Google Shape;162;g369ae16c13d_0_201"/>
          <p:cNvGraphicFramePr/>
          <p:nvPr/>
        </p:nvGraphicFramePr>
        <p:xfrm>
          <a:off x="576088" y="5135000"/>
          <a:ext cx="3000000" cy="3000000"/>
        </p:xfrm>
        <a:graphic>
          <a:graphicData uri="http://schemas.openxmlformats.org/drawingml/2006/table">
            <a:tbl>
              <a:tblPr>
                <a:noFill/>
                <a:tableStyleId>{CEA2587F-D6CE-4157-AD05-9171BBE57124}</a:tableStyleId>
              </a:tblPr>
              <a:tblGrid>
                <a:gridCol w="11131800"/>
              </a:tblGrid>
              <a:tr h="666700">
                <a:tc>
                  <a:txBody>
                    <a:bodyPr/>
                    <a:lstStyle/>
                    <a:p>
                      <a:pPr indent="0" lvl="0" marL="0" rtl="0" algn="ctr">
                        <a:spcBef>
                          <a:spcPts val="0"/>
                        </a:spcBef>
                        <a:spcAft>
                          <a:spcPts val="0"/>
                        </a:spcAft>
                        <a:buNone/>
                      </a:pPr>
                      <a:r>
                        <a:rPr lang="es-CL">
                          <a:solidFill>
                            <a:schemeClr val="dk1"/>
                          </a:solidFill>
                          <a:latin typeface="Calibri"/>
                          <a:ea typeface="Calibri"/>
                          <a:cs typeface="Calibri"/>
                          <a:sym typeface="Calibri"/>
                        </a:rPr>
                        <a:t>ResearchGate. (2020). Lingüística y Lengua de Señas Chilena [Preprint]. ResearchGate. </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95625">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8"/>
                        </a:rPr>
                        <a:t>https://www.researchgate.net/publication/366087350_Linguistica_y_Lengua_de_Senas_Chilena</a:t>
                      </a:r>
                      <a:r>
                        <a:rPr lang="es-CL">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b="1">
                        <a:latin typeface="Calibri"/>
                        <a:ea typeface="Calibri"/>
                        <a:cs typeface="Calibri"/>
                        <a:sym typeface="Calibri"/>
                      </a:endParaRPr>
                    </a:p>
                  </a:txBody>
                  <a:tcPr marT="91425" marB="91425" marR="91425" marL="91425" anchor="ctr">
                    <a:solidFill>
                      <a:srgbClr val="EAF1FE"/>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EscuelaIT Duoc UC - Escuela de Informática y Telecomunicaciones Duoc UC - Duoc  UC | LinkedIn" id="167" name="Google Shape;167;g369ae16c13d_0_210"/>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68" name="Google Shape;168;g369ae16c13d_0_21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169" name="Google Shape;169;g369ae16c13d_0_210"/>
          <p:cNvSpPr txBox="1"/>
          <p:nvPr/>
        </p:nvSpPr>
        <p:spPr>
          <a:xfrm>
            <a:off x="0" y="1125762"/>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ESTADO DEL ARTE</a:t>
            </a:r>
            <a:endParaRPr sz="3600">
              <a:solidFill>
                <a:schemeClr val="dk1"/>
              </a:solidFill>
              <a:latin typeface="Calibri"/>
              <a:ea typeface="Calibri"/>
              <a:cs typeface="Calibri"/>
              <a:sym typeface="Calibri"/>
            </a:endParaRPr>
          </a:p>
        </p:txBody>
      </p:sp>
      <p:graphicFrame>
        <p:nvGraphicFramePr>
          <p:cNvPr id="170" name="Google Shape;170;g369ae16c13d_0_210"/>
          <p:cNvGraphicFramePr/>
          <p:nvPr/>
        </p:nvGraphicFramePr>
        <p:xfrm>
          <a:off x="576088" y="2029875"/>
          <a:ext cx="3000000" cy="3000000"/>
        </p:xfrm>
        <a:graphic>
          <a:graphicData uri="http://schemas.openxmlformats.org/drawingml/2006/table">
            <a:tbl>
              <a:tblPr>
                <a:noFill/>
                <a:tableStyleId>{CEA2587F-D6CE-4157-AD05-9171BBE57124}</a:tableStyleId>
              </a:tblPr>
              <a:tblGrid>
                <a:gridCol w="11131800"/>
              </a:tblGrid>
              <a:tr h="751950">
                <a:tc>
                  <a:txBody>
                    <a:bodyPr/>
                    <a:lstStyle/>
                    <a:p>
                      <a:pPr indent="0" lvl="0" marL="0" rtl="0" algn="ctr">
                        <a:spcBef>
                          <a:spcPts val="0"/>
                        </a:spcBef>
                        <a:spcAft>
                          <a:spcPts val="0"/>
                        </a:spcAft>
                        <a:buNone/>
                      </a:pPr>
                      <a:r>
                        <a:rPr i="1" lang="es-CL">
                          <a:solidFill>
                            <a:schemeClr val="dk1"/>
                          </a:solidFill>
                          <a:latin typeface="Calibri"/>
                          <a:ea typeface="Calibri"/>
                          <a:cs typeface="Calibri"/>
                          <a:sym typeface="Calibri"/>
                        </a:rPr>
                        <a:t>Sign Language Dataset for Automatic Motion Generation. PMC.Dataset de 754 señales de LSE (Lengua de Señas Española) con tres participantes.</a:t>
                      </a:r>
                      <a:endParaRPr i="1" sz="1800">
                        <a:latin typeface="Calibri"/>
                        <a:ea typeface="Calibri"/>
                        <a:cs typeface="Calibri"/>
                        <a:sym typeface="Calibri"/>
                      </a:endParaRPr>
                    </a:p>
                  </a:txBody>
                  <a:tcPr marT="91425" marB="91425" marR="91425" marL="91425" anchor="ctr">
                    <a:solidFill>
                      <a:srgbClr val="A4C2F4"/>
                    </a:solidFill>
                  </a:tcPr>
                </a:tc>
              </a:tr>
              <a:tr h="538700">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5"/>
                        </a:rPr>
                        <a:t>https://www.ncbi.nlm.nih.gov/pmc/articles/PMC10744067/</a:t>
                      </a:r>
                      <a:r>
                        <a:rPr lang="es-CL">
                          <a:solidFill>
                            <a:schemeClr val="dk1"/>
                          </a:solidFill>
                          <a:latin typeface="Calibri"/>
                          <a:ea typeface="Calibri"/>
                          <a:cs typeface="Calibri"/>
                          <a:sym typeface="Calibri"/>
                        </a:rPr>
                        <a:t> </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71" name="Google Shape;171;g369ae16c13d_0_210"/>
          <p:cNvGraphicFramePr/>
          <p:nvPr/>
        </p:nvGraphicFramePr>
        <p:xfrm>
          <a:off x="576088" y="3633575"/>
          <a:ext cx="3000000" cy="3000000"/>
        </p:xfrm>
        <a:graphic>
          <a:graphicData uri="http://schemas.openxmlformats.org/drawingml/2006/table">
            <a:tbl>
              <a:tblPr>
                <a:noFill/>
                <a:tableStyleId>{CEA2587F-D6CE-4157-AD05-9171BBE57124}</a:tableStyleId>
              </a:tblPr>
              <a:tblGrid>
                <a:gridCol w="11131800"/>
              </a:tblGrid>
              <a:tr h="747175">
                <a:tc>
                  <a:txBody>
                    <a:bodyPr/>
                    <a:lstStyle/>
                    <a:p>
                      <a:pPr indent="0" lvl="0" marL="0" rtl="0" algn="ctr">
                        <a:spcBef>
                          <a:spcPts val="0"/>
                        </a:spcBef>
                        <a:spcAft>
                          <a:spcPts val="0"/>
                        </a:spcAft>
                        <a:buNone/>
                      </a:pPr>
                      <a:r>
                        <a:rPr i="1" lang="es-CL">
                          <a:solidFill>
                            <a:schemeClr val="dk1"/>
                          </a:solidFill>
                          <a:latin typeface="Calibri"/>
                          <a:ea typeface="Calibri"/>
                          <a:cs typeface="Calibri"/>
                          <a:sym typeface="Calibri"/>
                        </a:rPr>
                        <a:t>How2Sign: Dataset multimodal y multi‑vista de ASL continuo. 80 h de videos ASL con audio, transcripciones en inglés y profundidad.</a:t>
                      </a:r>
                      <a:endParaRPr i="1">
                        <a:solidFill>
                          <a:schemeClr val="dk1"/>
                        </a:solidFill>
                        <a:latin typeface="Calibri"/>
                        <a:ea typeface="Calibri"/>
                        <a:cs typeface="Calibri"/>
                        <a:sym typeface="Calibri"/>
                      </a:endParaRPr>
                    </a:p>
                    <a:p>
                      <a:pPr indent="0" lvl="0" marL="0" rtl="0" algn="ctr">
                        <a:spcBef>
                          <a:spcPts val="0"/>
                        </a:spcBef>
                        <a:spcAft>
                          <a:spcPts val="0"/>
                        </a:spcAft>
                        <a:buNone/>
                      </a:pPr>
                      <a:r>
                        <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58875">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6"/>
                        </a:rPr>
                        <a:t>http://how2sign.github.io/</a:t>
                      </a:r>
                      <a:r>
                        <a:rPr lang="es-CL">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0" rtl="0" algn="ctr">
                        <a:spcBef>
                          <a:spcPts val="0"/>
                        </a:spcBef>
                        <a:spcAft>
                          <a:spcPts val="0"/>
                        </a:spcAft>
                        <a:buNone/>
                      </a:pPr>
                      <a:r>
                        <a:rPr lang="es-CL" u="sng">
                          <a:solidFill>
                            <a:schemeClr val="hlink"/>
                          </a:solidFill>
                          <a:latin typeface="Calibri"/>
                          <a:ea typeface="Calibri"/>
                          <a:cs typeface="Calibri"/>
                          <a:sym typeface="Calibri"/>
                          <a:hlinkClick r:id="rId7"/>
                        </a:rPr>
                        <a:t>https://aclanthology.org/2022.sltat-1.9.pdf</a:t>
                      </a:r>
                      <a:endParaRPr>
                        <a:solidFill>
                          <a:schemeClr val="dk1"/>
                        </a:solidFill>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txBody>
                  <a:tcPr marT="91425" marB="91425" marR="91425" marL="91425" anchor="ctr">
                    <a:solidFill>
                      <a:srgbClr val="EAF1FE"/>
                    </a:solidFill>
                  </a:tcPr>
                </a:tc>
              </a:tr>
            </a:tbl>
          </a:graphicData>
        </a:graphic>
      </p:graphicFrame>
      <p:graphicFrame>
        <p:nvGraphicFramePr>
          <p:cNvPr id="172" name="Google Shape;172;g369ae16c13d_0_210"/>
          <p:cNvGraphicFramePr/>
          <p:nvPr/>
        </p:nvGraphicFramePr>
        <p:xfrm>
          <a:off x="576088" y="5135000"/>
          <a:ext cx="3000000" cy="3000000"/>
        </p:xfrm>
        <a:graphic>
          <a:graphicData uri="http://schemas.openxmlformats.org/drawingml/2006/table">
            <a:tbl>
              <a:tblPr>
                <a:noFill/>
                <a:tableStyleId>{CEA2587F-D6CE-4157-AD05-9171BBE57124}</a:tableStyleId>
              </a:tblPr>
              <a:tblGrid>
                <a:gridCol w="11131800"/>
              </a:tblGrid>
              <a:tr h="666700">
                <a:tc>
                  <a:txBody>
                    <a:bodyPr/>
                    <a:lstStyle/>
                    <a:p>
                      <a:pPr indent="0" lvl="0" marL="0" rtl="0" algn="ctr">
                        <a:spcBef>
                          <a:spcPts val="0"/>
                        </a:spcBef>
                        <a:spcAft>
                          <a:spcPts val="0"/>
                        </a:spcAft>
                        <a:buNone/>
                      </a:pPr>
                      <a:r>
                        <a:rPr lang="es-CL">
                          <a:solidFill>
                            <a:schemeClr val="dk1"/>
                          </a:solidFill>
                          <a:latin typeface="Calibri"/>
                          <a:ea typeface="Calibri"/>
                          <a:cs typeface="Calibri"/>
                          <a:sym typeface="Calibri"/>
                        </a:rPr>
                        <a:t>Premiado el proyecto ‘LSEAvatar’ que desarrolla un asistente virtual capaz de traducir el lenguaje oral a lenguaje de signos. Universidad de La Rioja.</a:t>
                      </a:r>
                      <a:endParaRPr i="1">
                        <a:solidFill>
                          <a:schemeClr val="dk1"/>
                        </a:solidFill>
                        <a:latin typeface="Calibri"/>
                        <a:ea typeface="Calibri"/>
                        <a:cs typeface="Calibri"/>
                        <a:sym typeface="Calibri"/>
                      </a:endParaRPr>
                    </a:p>
                  </a:txBody>
                  <a:tcPr marT="91425" marB="91425" marR="91425" marL="91425" anchor="ctr">
                    <a:solidFill>
                      <a:srgbClr val="A4C2F4"/>
                    </a:solidFill>
                  </a:tcPr>
                </a:tc>
              </a:tr>
              <a:tr h="595625">
                <a:tc>
                  <a:txBody>
                    <a:bodyPr/>
                    <a:lstStyle/>
                    <a:p>
                      <a:pPr indent="0" lvl="0" marL="0" rtl="0" algn="ctr">
                        <a:spcBef>
                          <a:spcPts val="0"/>
                        </a:spcBef>
                        <a:spcAft>
                          <a:spcPts val="0"/>
                        </a:spcAft>
                        <a:buNone/>
                      </a:pPr>
                      <a:r>
                        <a:rPr lang="es-CL" u="sng">
                          <a:solidFill>
                            <a:schemeClr val="hlink"/>
                          </a:solidFill>
                          <a:latin typeface="Calibri"/>
                          <a:ea typeface="Calibri"/>
                          <a:cs typeface="Calibri"/>
                          <a:sym typeface="Calibri"/>
                          <a:hlinkClick r:id="rId8"/>
                        </a:rPr>
                        <a:t>https://www.unirioja.es/premiado-el-proyecto-lseavatar-que-desarrolla-un-asistente-virtual-capaz-de-traducir-el-lenguaje-oral-a-lenguaje-de-signos/</a:t>
                      </a:r>
                      <a:endParaRPr b="1">
                        <a:latin typeface="Calibri"/>
                        <a:ea typeface="Calibri"/>
                        <a:cs typeface="Calibri"/>
                        <a:sym typeface="Calibri"/>
                      </a:endParaRPr>
                    </a:p>
                  </a:txBody>
                  <a:tcPr marT="91425" marB="91425" marR="91425" marL="91425" anchor="ctr">
                    <a:solidFill>
                      <a:srgbClr val="EAF1F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EscuelaIT Duoc UC - Escuela de Informática y Telecomunicaciones Duoc UC - Duoc  UC | LinkedIn" id="177" name="Google Shape;177;g36996a80142_0_1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78" name="Google Shape;178;g36996a80142_0_1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cxnSp>
        <p:nvCxnSpPr>
          <p:cNvPr id="179" name="Google Shape;179;g36996a80142_0_16"/>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180" name="Google Shape;180;g36996a80142_0_16"/>
          <p:cNvSpPr txBox="1"/>
          <p:nvPr/>
        </p:nvSpPr>
        <p:spPr>
          <a:xfrm>
            <a:off x="-24" y="992896"/>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Objetivo General</a:t>
            </a:r>
            <a:endParaRPr sz="1800">
              <a:solidFill>
                <a:schemeClr val="dk1"/>
              </a:solidFill>
              <a:latin typeface="Calibri"/>
              <a:ea typeface="Calibri"/>
              <a:cs typeface="Calibri"/>
              <a:sym typeface="Calibri"/>
            </a:endParaRPr>
          </a:p>
        </p:txBody>
      </p:sp>
      <p:sp>
        <p:nvSpPr>
          <p:cNvPr id="181" name="Google Shape;181;g36996a80142_0_16"/>
          <p:cNvSpPr/>
          <p:nvPr/>
        </p:nvSpPr>
        <p:spPr>
          <a:xfrm>
            <a:off x="614525" y="1813200"/>
            <a:ext cx="10962900" cy="3231600"/>
          </a:xfrm>
          <a:prstGeom prst="roundRect">
            <a:avLst>
              <a:gd fmla="val 16667" name="adj"/>
            </a:avLst>
          </a:prstGeom>
          <a:solidFill>
            <a:srgbClr val="EAF1FE"/>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CL" sz="1600">
                <a:solidFill>
                  <a:schemeClr val="dk1"/>
                </a:solidFill>
                <a:latin typeface="Calibri"/>
                <a:ea typeface="Calibri"/>
                <a:cs typeface="Calibri"/>
                <a:sym typeface="Calibri"/>
              </a:rPr>
              <a:t>Durante los primeros 12 meses* del proyecto, se busca implementar una solución tecnológica integral basada en inteligencia artificial que permite convertir audio a texto con alta precisión y baja latencia, identificar palabras clave considerando modismos del español chileno, y transmitir contenido audiovisual en tiempo real con validación de intérpretes certificados. Además, se desarrollará un modelo de evaluación de calidad del avatar, asegurando una experiencia fluida y natural para los usuarios. Finalmente, se promoverá la inclusión social mediante la adopción de esta tecnología en al menos un medio de comunicación, con una meta de satisfacción superior al 80%.</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EscuelaIT Duoc UC - Escuela de Informática y Telecomunicaciones Duoc UC - Duoc  UC | LinkedIn" id="186" name="Google Shape;186;g36996a80142_0_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87" name="Google Shape;187;g36996a80142_0_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cxnSp>
        <p:nvCxnSpPr>
          <p:cNvPr id="188" name="Google Shape;188;g36996a80142_0_6"/>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189" name="Google Shape;189;g36996a80142_0_6"/>
          <p:cNvSpPr txBox="1"/>
          <p:nvPr/>
        </p:nvSpPr>
        <p:spPr>
          <a:xfrm>
            <a:off x="-24" y="992896"/>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Objetivos Específicos</a:t>
            </a:r>
            <a:endParaRPr sz="1800">
              <a:solidFill>
                <a:schemeClr val="dk1"/>
              </a:solidFill>
              <a:latin typeface="Calibri"/>
              <a:ea typeface="Calibri"/>
              <a:cs typeface="Calibri"/>
              <a:sym typeface="Calibri"/>
            </a:endParaRPr>
          </a:p>
        </p:txBody>
      </p:sp>
      <p:sp>
        <p:nvSpPr>
          <p:cNvPr id="190" name="Google Shape;190;g36996a80142_0_6"/>
          <p:cNvSpPr/>
          <p:nvPr/>
        </p:nvSpPr>
        <p:spPr>
          <a:xfrm>
            <a:off x="614550" y="1874250"/>
            <a:ext cx="10962900" cy="4544100"/>
          </a:xfrm>
          <a:prstGeom prst="roundRect">
            <a:avLst>
              <a:gd fmla="val 16667" name="adj"/>
            </a:avLst>
          </a:prstGeom>
          <a:solidFill>
            <a:srgbClr val="EAF1FE"/>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292100" lvl="0" marL="457200" rtl="0" algn="l">
              <a:spcBef>
                <a:spcPts val="0"/>
              </a:spcBef>
              <a:spcAft>
                <a:spcPts val="0"/>
              </a:spcAft>
              <a:buClr>
                <a:schemeClr val="dk1"/>
              </a:buClr>
              <a:buSzPts val="1000"/>
              <a:buFont typeface="Calibri"/>
              <a:buChar char="●"/>
            </a:pPr>
            <a:r>
              <a:rPr lang="es-CL" sz="1500">
                <a:solidFill>
                  <a:schemeClr val="dk1"/>
                </a:solidFill>
                <a:latin typeface="Calibri"/>
                <a:ea typeface="Calibri"/>
                <a:cs typeface="Calibri"/>
                <a:sym typeface="Calibri"/>
              </a:rPr>
              <a:t>Implementar un módulo de inteligencia artificial para convertir audio a texto con una precisión superior al 70% y una latencia menor a 3 segundos, durante los primeros 2 meses del proyecto.</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s-CL" sz="1500">
                <a:solidFill>
                  <a:schemeClr val="dk1"/>
                </a:solidFill>
                <a:latin typeface="Calibri"/>
                <a:ea typeface="Calibri"/>
                <a:cs typeface="Calibri"/>
                <a:sym typeface="Calibri"/>
              </a:rPr>
              <a:t>Crear e implementar un dataset que almacene una gran cantidad de datos con el formato requerido, dentro de un plazo de 3 meses</a:t>
            </a:r>
            <a:r>
              <a:rPr lang="es-CL" sz="15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5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s-CL" sz="1500">
                <a:solidFill>
                  <a:schemeClr val="dk1"/>
                </a:solidFill>
                <a:latin typeface="Calibri"/>
                <a:ea typeface="Calibri"/>
                <a:cs typeface="Calibri"/>
                <a:sym typeface="Calibri"/>
              </a:rPr>
              <a:t>Implementar una inteligencia </a:t>
            </a:r>
            <a:r>
              <a:rPr lang="es-CL" sz="1500">
                <a:solidFill>
                  <a:schemeClr val="dk1"/>
                </a:solidFill>
                <a:latin typeface="Calibri"/>
                <a:ea typeface="Calibri"/>
                <a:cs typeface="Calibri"/>
                <a:sym typeface="Calibri"/>
              </a:rPr>
              <a:t>artificial</a:t>
            </a:r>
            <a:r>
              <a:rPr lang="es-CL" sz="1500">
                <a:solidFill>
                  <a:schemeClr val="dk1"/>
                </a:solidFill>
                <a:latin typeface="Calibri"/>
                <a:ea typeface="Calibri"/>
                <a:cs typeface="Calibri"/>
                <a:sym typeface="Calibri"/>
              </a:rPr>
              <a:t> (Transformer) que entienda los datos y que los entregue en el formato requerido, con una precisión superior al 70% y con una latencia menor a 3 segundos, en un plazo de 3 meses.</a:t>
            </a:r>
            <a:endParaRPr sz="15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5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s-CL" sz="1500">
                <a:solidFill>
                  <a:schemeClr val="dk1"/>
                </a:solidFill>
                <a:latin typeface="Calibri"/>
                <a:ea typeface="Calibri"/>
                <a:cs typeface="Calibri"/>
                <a:sym typeface="Calibri"/>
              </a:rPr>
              <a:t>Crear e implementar, en un plazo de 2 meses, un modelo de evaluación de calidad para medir la precisión, naturalidad y aceptación del avatar, con una tasa de falla de transmisión inferior al 5% en sesiones continuas de 3 horas.</a:t>
            </a:r>
            <a:endParaRPr sz="15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500">
              <a:solidFill>
                <a:schemeClr val="dk1"/>
              </a:solidFill>
              <a:latin typeface="Calibri"/>
              <a:ea typeface="Calibri"/>
              <a:cs typeface="Calibri"/>
              <a:sym typeface="Calibri"/>
            </a:endParaRPr>
          </a:p>
          <a:p>
            <a:pPr indent="-292100" lvl="0" marL="457200" rtl="0" algn="l">
              <a:spcBef>
                <a:spcPts val="0"/>
              </a:spcBef>
              <a:spcAft>
                <a:spcPts val="0"/>
              </a:spcAft>
              <a:buClr>
                <a:schemeClr val="dk1"/>
              </a:buClr>
              <a:buSzPts val="1000"/>
              <a:buFont typeface="Calibri"/>
              <a:buChar char="●"/>
            </a:pPr>
            <a:r>
              <a:rPr lang="es-CL" sz="1500">
                <a:solidFill>
                  <a:schemeClr val="dk1"/>
                </a:solidFill>
                <a:latin typeface="Calibri"/>
                <a:ea typeface="Calibri"/>
                <a:cs typeface="Calibri"/>
                <a:sym typeface="Calibri"/>
              </a:rPr>
              <a:t>Promover la inclusión social mediante la implementación de la solución tecnológica en al menos un canal de televisión o medio digital, alcanzando una satisfacción de usuario superior al 80% al finalizar el periodo del proyecto.</a:t>
            </a:r>
            <a:endParaRPr sz="15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1600">
              <a:solidFill>
                <a:schemeClr val="dk1"/>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sz="1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EscuelaIT Duoc UC - Escuela de Informática y Telecomunicaciones Duoc UC - Duoc  UC | LinkedIn" id="195" name="Google Shape;195;g369ae16c13d_0_167"/>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196" name="Google Shape;196;g369ae16c13d_0_167"/>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197" name="Google Shape;197;g369ae16c13d_0_167"/>
          <p:cNvSpPr txBox="1"/>
          <p:nvPr/>
        </p:nvSpPr>
        <p:spPr>
          <a:xfrm>
            <a:off x="12000" y="117775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Alcances y limitaciones del proyecto</a:t>
            </a:r>
            <a:endParaRPr/>
          </a:p>
        </p:txBody>
      </p:sp>
      <p:cxnSp>
        <p:nvCxnSpPr>
          <p:cNvPr id="198" name="Google Shape;198;g369ae16c13d_0_167"/>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199" name="Google Shape;199;g369ae16c13d_0_167"/>
          <p:cNvSpPr txBox="1"/>
          <p:nvPr/>
        </p:nvSpPr>
        <p:spPr>
          <a:xfrm>
            <a:off x="1040100" y="2753625"/>
            <a:ext cx="101358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graphicFrame>
        <p:nvGraphicFramePr>
          <p:cNvPr id="200" name="Google Shape;200;g369ae16c13d_0_167"/>
          <p:cNvGraphicFramePr/>
          <p:nvPr/>
        </p:nvGraphicFramePr>
        <p:xfrm>
          <a:off x="695138" y="2009100"/>
          <a:ext cx="3000000" cy="3000000"/>
        </p:xfrm>
        <a:graphic>
          <a:graphicData uri="http://schemas.openxmlformats.org/drawingml/2006/table">
            <a:tbl>
              <a:tblPr>
                <a:noFill/>
                <a:tableStyleId>{CEA2587F-D6CE-4157-AD05-9171BBE57124}</a:tableStyleId>
              </a:tblPr>
              <a:tblGrid>
                <a:gridCol w="5729600"/>
                <a:gridCol w="5195025"/>
              </a:tblGrid>
              <a:tr h="537625">
                <a:tc>
                  <a:txBody>
                    <a:bodyPr/>
                    <a:lstStyle/>
                    <a:p>
                      <a:pPr indent="0" lvl="0" marL="0" rtl="0" algn="ctr">
                        <a:lnSpc>
                          <a:spcPct val="115000"/>
                        </a:lnSpc>
                        <a:spcBef>
                          <a:spcPts val="1200"/>
                        </a:spcBef>
                        <a:spcAft>
                          <a:spcPts val="1200"/>
                        </a:spcAft>
                        <a:buNone/>
                      </a:pPr>
                      <a:r>
                        <a:rPr b="1" lang="es-CL" sz="1800">
                          <a:solidFill>
                            <a:schemeClr val="dk1"/>
                          </a:solidFill>
                          <a:latin typeface="Calibri"/>
                          <a:ea typeface="Calibri"/>
                          <a:cs typeface="Calibri"/>
                          <a:sym typeface="Calibri"/>
                        </a:rPr>
                        <a:t>Alcance</a:t>
                      </a:r>
                      <a:endParaRPr b="1" sz="1800">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lnSpc>
                          <a:spcPct val="115000"/>
                        </a:lnSpc>
                        <a:spcBef>
                          <a:spcPts val="1200"/>
                        </a:spcBef>
                        <a:spcAft>
                          <a:spcPts val="1200"/>
                        </a:spcAft>
                        <a:buNone/>
                      </a:pPr>
                      <a:r>
                        <a:rPr b="1" lang="es-CL" sz="1800">
                          <a:solidFill>
                            <a:schemeClr val="dk1"/>
                          </a:solidFill>
                          <a:latin typeface="Calibri"/>
                          <a:ea typeface="Calibri"/>
                          <a:cs typeface="Calibri"/>
                          <a:sym typeface="Calibri"/>
                        </a:rPr>
                        <a:t>Limitaciones</a:t>
                      </a:r>
                      <a:endParaRPr sz="1800"/>
                    </a:p>
                  </a:txBody>
                  <a:tcPr marT="91425" marB="91425" marR="91425" marL="91425" anchor="ctr">
                    <a:solidFill>
                      <a:srgbClr val="A4C2F4"/>
                    </a:solidFill>
                  </a:tcPr>
                </a:tc>
              </a:tr>
              <a:tr h="1211575">
                <a:tc>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Desarrollo del sistema de transcripción de audio a texto limitado, ya que no tiene voz libre, con respuesta en tiempo real.</a:t>
                      </a:r>
                      <a:endParaRPr b="1">
                        <a:latin typeface="Calibri"/>
                        <a:ea typeface="Calibri"/>
                        <a:cs typeface="Calibri"/>
                        <a:sym typeface="Calibri"/>
                      </a:endParaRPr>
                    </a:p>
                  </a:txBody>
                  <a:tcPr marT="91425" marB="91425" marR="91425" marL="91425" anchor="ctr">
                    <a:solidFill>
                      <a:srgbClr val="EAF1FE"/>
                    </a:solidFill>
                  </a:tcPr>
                </a:tc>
                <a:tc>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Recursos externos como el Diccionario de Lengua de Señas Chilena no fueron útiles para el entrenamiento.</a:t>
                      </a:r>
                      <a:endParaRPr/>
                    </a:p>
                  </a:txBody>
                  <a:tcPr marT="91425" marB="91425" marR="91425" marL="91425" anchor="ctr">
                    <a:solidFill>
                      <a:srgbClr val="EAF1FE"/>
                    </a:solidFill>
                  </a:tcPr>
                </a:tc>
              </a:tr>
              <a:tr h="1205150">
                <a:tc>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Creación y entrenamiento de un dataset específico para español chileno.</a:t>
                      </a:r>
                      <a:endParaRPr b="1">
                        <a:latin typeface="Calibri"/>
                        <a:ea typeface="Calibri"/>
                        <a:cs typeface="Calibri"/>
                        <a:sym typeface="Calibri"/>
                      </a:endParaRPr>
                    </a:p>
                  </a:txBody>
                  <a:tcPr marT="91425" marB="91425" marR="91425" marL="91425" anchor="ctr">
                    <a:solidFill>
                      <a:srgbClr val="EAF1FE"/>
                    </a:solidFill>
                  </a:tcPr>
                </a:tc>
                <a:tc>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No se pudo generar una buena cantidad de datos de entrenamiento, debido a que se tuvo que crear desde 0.</a:t>
                      </a:r>
                      <a:endParaRPr/>
                    </a:p>
                  </a:txBody>
                  <a:tcPr marT="91425" marB="91425" marR="91425" marL="91425" anchor="ctr">
                    <a:solidFill>
                      <a:srgbClr val="EAF1FE"/>
                    </a:solidFill>
                  </a:tcPr>
                </a:tc>
              </a:tr>
              <a:tr h="676775">
                <a:tc rowSpan="3">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Entrenamiento de modelos IA basados en Transformer para alta precisión y baja latencia.</a:t>
                      </a:r>
                      <a:endParaRPr b="1">
                        <a:latin typeface="Calibri"/>
                        <a:ea typeface="Calibri"/>
                        <a:cs typeface="Calibri"/>
                        <a:sym typeface="Calibri"/>
                      </a:endParaRPr>
                    </a:p>
                  </a:txBody>
                  <a:tcPr marT="91425" marB="91425" marR="91425" marL="91425" anchor="ctr">
                    <a:solidFill>
                      <a:srgbClr val="EAF1FE"/>
                    </a:solidFill>
                  </a:tcPr>
                </a:tc>
                <a:tc>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No se tuvo contacto con intérpretes, lo que generó dificultades con la creación del dataset. </a:t>
                      </a:r>
                      <a:endParaRPr/>
                    </a:p>
                  </a:txBody>
                  <a:tcPr marT="91425" marB="91425" marR="91425" marL="91425" anchor="ctr">
                    <a:solidFill>
                      <a:srgbClr val="EAF1FE"/>
                    </a:solidFill>
                  </a:tcPr>
                </a:tc>
              </a:tr>
              <a:tr h="441050">
                <a:tc vMerge="1"/>
                <a:tc rowSpan="2">
                  <a:txBody>
                    <a:bodyPr/>
                    <a:lstStyle/>
                    <a:p>
                      <a:pPr indent="0" lvl="0" marL="0" rtl="0" algn="ctr">
                        <a:lnSpc>
                          <a:spcPct val="115000"/>
                        </a:lnSpc>
                        <a:spcBef>
                          <a:spcPts val="1200"/>
                        </a:spcBef>
                        <a:spcAft>
                          <a:spcPts val="1200"/>
                        </a:spcAft>
                        <a:buNone/>
                      </a:pPr>
                      <a:r>
                        <a:rPr lang="es-CL">
                          <a:solidFill>
                            <a:schemeClr val="dk1"/>
                          </a:solidFill>
                          <a:latin typeface="Calibri"/>
                          <a:ea typeface="Calibri"/>
                          <a:cs typeface="Calibri"/>
                          <a:sym typeface="Calibri"/>
                        </a:rPr>
                        <a:t>En su mayoría solo se utilizaron servicios y aplicaciones de software gratuitos, ya que no se poseen fondos.</a:t>
                      </a:r>
                      <a:endParaRPr/>
                    </a:p>
                  </a:txBody>
                  <a:tcPr marT="91425" marB="91425" marR="91425" marL="91425" anchor="ctr">
                    <a:solidFill>
                      <a:srgbClr val="EAF1FE"/>
                    </a:solidFill>
                  </a:tcPr>
                </a:tc>
              </a:tr>
              <a:tr h="441050">
                <a:tc vMerge="1"/>
                <a:tc vMerge="1"/>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69ae16c13d_2_7"/>
          <p:cNvSpPr/>
          <p:nvPr/>
        </p:nvSpPr>
        <p:spPr>
          <a:xfrm>
            <a:off x="253500" y="900650"/>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latin typeface="Calibri"/>
                <a:ea typeface="Calibri"/>
                <a:cs typeface="Calibri"/>
                <a:sym typeface="Calibri"/>
              </a:rPr>
              <a:t>Levantamiento de Requisitos</a:t>
            </a:r>
            <a:endParaRPr b="1">
              <a:latin typeface="Calibri"/>
              <a:ea typeface="Calibri"/>
              <a:cs typeface="Calibri"/>
              <a:sym typeface="Calibri"/>
            </a:endParaRPr>
          </a:p>
        </p:txBody>
      </p:sp>
      <p:sp>
        <p:nvSpPr>
          <p:cNvPr id="206" name="Google Shape;206;g369ae16c13d_2_7"/>
          <p:cNvSpPr txBox="1"/>
          <p:nvPr/>
        </p:nvSpPr>
        <p:spPr>
          <a:xfrm>
            <a:off x="7923537" y="1506652"/>
            <a:ext cx="3862500" cy="165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CL" sz="4800">
                <a:latin typeface="Calibri"/>
                <a:ea typeface="Calibri"/>
                <a:cs typeface="Calibri"/>
                <a:sym typeface="Calibri"/>
              </a:rPr>
              <a:t>Metodología Cascada</a:t>
            </a:r>
            <a:endParaRPr sz="4800">
              <a:latin typeface="Calibri"/>
              <a:ea typeface="Calibri"/>
              <a:cs typeface="Calibri"/>
              <a:sym typeface="Calibri"/>
            </a:endParaRPr>
          </a:p>
        </p:txBody>
      </p:sp>
      <p:cxnSp>
        <p:nvCxnSpPr>
          <p:cNvPr id="207" name="Google Shape;207;g369ae16c13d_2_7"/>
          <p:cNvCxnSpPr>
            <a:stCxn id="205" idx="2"/>
            <a:endCxn id="208" idx="1"/>
          </p:cNvCxnSpPr>
          <p:nvPr/>
        </p:nvCxnSpPr>
        <p:spPr>
          <a:xfrm flipH="1" rot="-5400000">
            <a:off x="1387500" y="1595000"/>
            <a:ext cx="474300" cy="297600"/>
          </a:xfrm>
          <a:prstGeom prst="bentConnector2">
            <a:avLst/>
          </a:prstGeom>
          <a:noFill/>
          <a:ln cap="flat" cmpd="sng" w="28575">
            <a:solidFill>
              <a:schemeClr val="dk2"/>
            </a:solidFill>
            <a:prstDash val="solid"/>
            <a:round/>
            <a:headEnd len="med" w="med" type="none"/>
            <a:tailEnd len="med" w="med" type="stealth"/>
          </a:ln>
        </p:spPr>
      </p:cxnSp>
      <p:cxnSp>
        <p:nvCxnSpPr>
          <p:cNvPr id="209" name="Google Shape;209;g369ae16c13d_2_7"/>
          <p:cNvCxnSpPr>
            <a:stCxn id="208" idx="2"/>
            <a:endCxn id="210" idx="1"/>
          </p:cNvCxnSpPr>
          <p:nvPr/>
        </p:nvCxnSpPr>
        <p:spPr>
          <a:xfrm flipH="1" rot="-5400000">
            <a:off x="2890050" y="2389675"/>
            <a:ext cx="474300" cy="263100"/>
          </a:xfrm>
          <a:prstGeom prst="bentConnector2">
            <a:avLst/>
          </a:prstGeom>
          <a:noFill/>
          <a:ln cap="flat" cmpd="sng" w="28575">
            <a:solidFill>
              <a:schemeClr val="dk2"/>
            </a:solidFill>
            <a:prstDash val="solid"/>
            <a:round/>
            <a:headEnd len="med" w="med" type="none"/>
            <a:tailEnd len="med" w="med" type="stealth"/>
          </a:ln>
        </p:spPr>
      </p:cxnSp>
      <p:cxnSp>
        <p:nvCxnSpPr>
          <p:cNvPr id="211" name="Google Shape;211;g369ae16c13d_2_7"/>
          <p:cNvCxnSpPr>
            <a:stCxn id="210" idx="2"/>
            <a:endCxn id="212" idx="1"/>
          </p:cNvCxnSpPr>
          <p:nvPr/>
        </p:nvCxnSpPr>
        <p:spPr>
          <a:xfrm flipH="1" rot="-5400000">
            <a:off x="4393475" y="3149100"/>
            <a:ext cx="513300" cy="338100"/>
          </a:xfrm>
          <a:prstGeom prst="bentConnector2">
            <a:avLst/>
          </a:prstGeom>
          <a:noFill/>
          <a:ln cap="flat" cmpd="sng" w="28575">
            <a:solidFill>
              <a:schemeClr val="dk2"/>
            </a:solidFill>
            <a:prstDash val="solid"/>
            <a:round/>
            <a:headEnd len="med" w="med" type="none"/>
            <a:tailEnd len="med" w="med" type="stealth"/>
          </a:ln>
        </p:spPr>
      </p:cxnSp>
      <p:cxnSp>
        <p:nvCxnSpPr>
          <p:cNvPr id="213" name="Google Shape;213;g369ae16c13d_2_7"/>
          <p:cNvCxnSpPr>
            <a:stCxn id="214" idx="2"/>
            <a:endCxn id="215" idx="1"/>
          </p:cNvCxnSpPr>
          <p:nvPr/>
        </p:nvCxnSpPr>
        <p:spPr>
          <a:xfrm flipH="1" rot="-5400000">
            <a:off x="7482225" y="4817075"/>
            <a:ext cx="558000" cy="324600"/>
          </a:xfrm>
          <a:prstGeom prst="bentConnector2">
            <a:avLst/>
          </a:prstGeom>
          <a:noFill/>
          <a:ln cap="flat" cmpd="sng" w="28575">
            <a:solidFill>
              <a:schemeClr val="dk2"/>
            </a:solidFill>
            <a:prstDash val="solid"/>
            <a:round/>
            <a:headEnd len="med" w="med" type="none"/>
            <a:tailEnd len="med" w="med" type="stealth"/>
          </a:ln>
        </p:spPr>
      </p:cxnSp>
      <p:cxnSp>
        <p:nvCxnSpPr>
          <p:cNvPr id="216" name="Google Shape;216;g369ae16c13d_2_7"/>
          <p:cNvCxnSpPr>
            <a:stCxn id="215" idx="2"/>
            <a:endCxn id="217" idx="1"/>
          </p:cNvCxnSpPr>
          <p:nvPr/>
        </p:nvCxnSpPr>
        <p:spPr>
          <a:xfrm flipH="1" rot="-5400000">
            <a:off x="8990900" y="5716450"/>
            <a:ext cx="570000" cy="259800"/>
          </a:xfrm>
          <a:prstGeom prst="bentConnector2">
            <a:avLst/>
          </a:prstGeom>
          <a:noFill/>
          <a:ln cap="flat" cmpd="sng" w="28575">
            <a:solidFill>
              <a:schemeClr val="dk2"/>
            </a:solidFill>
            <a:prstDash val="solid"/>
            <a:round/>
            <a:headEnd len="med" w="med" type="none"/>
            <a:tailEnd len="med" w="med" type="stealth"/>
          </a:ln>
        </p:spPr>
      </p:cxnSp>
      <p:cxnSp>
        <p:nvCxnSpPr>
          <p:cNvPr id="218" name="Google Shape;218;g369ae16c13d_2_7"/>
          <p:cNvCxnSpPr>
            <a:stCxn id="212" idx="2"/>
            <a:endCxn id="214" idx="1"/>
          </p:cNvCxnSpPr>
          <p:nvPr/>
        </p:nvCxnSpPr>
        <p:spPr>
          <a:xfrm flipH="1" rot="-5400000">
            <a:off x="5949250" y="3969925"/>
            <a:ext cx="519600" cy="335100"/>
          </a:xfrm>
          <a:prstGeom prst="bentConnector2">
            <a:avLst/>
          </a:prstGeom>
          <a:noFill/>
          <a:ln cap="flat" cmpd="sng" w="28575">
            <a:solidFill>
              <a:schemeClr val="dk2"/>
            </a:solidFill>
            <a:prstDash val="solid"/>
            <a:round/>
            <a:headEnd len="med" w="med" type="none"/>
            <a:tailEnd len="med" w="med" type="stealth"/>
          </a:ln>
        </p:spPr>
      </p:cxnSp>
      <p:sp>
        <p:nvSpPr>
          <p:cNvPr id="219" name="Google Shape;219;g369ae16c13d_2_7"/>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pic>
        <p:nvPicPr>
          <p:cNvPr descr="EscuelaIT Duoc UC - Escuela de Informática y Telecomunicaciones Duoc UC - Duoc  UC | LinkedIn" id="220" name="Google Shape;220;g369ae16c13d_2_7"/>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08" name="Google Shape;208;g369ae16c13d_2_7"/>
          <p:cNvSpPr/>
          <p:nvPr/>
        </p:nvSpPr>
        <p:spPr>
          <a:xfrm>
            <a:off x="1773300" y="1678075"/>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solidFill>
                  <a:schemeClr val="dk1"/>
                </a:solidFill>
                <a:latin typeface="Calibri"/>
                <a:ea typeface="Calibri"/>
                <a:cs typeface="Calibri"/>
                <a:sym typeface="Calibri"/>
              </a:rPr>
              <a:t>Diseño del Sistema</a:t>
            </a:r>
            <a:endParaRPr b="1">
              <a:latin typeface="Calibri"/>
              <a:ea typeface="Calibri"/>
              <a:cs typeface="Calibri"/>
              <a:sym typeface="Calibri"/>
            </a:endParaRPr>
          </a:p>
        </p:txBody>
      </p:sp>
      <p:sp>
        <p:nvSpPr>
          <p:cNvPr id="210" name="Google Shape;210;g369ae16c13d_2_7"/>
          <p:cNvSpPr/>
          <p:nvPr/>
        </p:nvSpPr>
        <p:spPr>
          <a:xfrm>
            <a:off x="3258725" y="2455500"/>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solidFill>
                  <a:schemeClr val="dk1"/>
                </a:solidFill>
                <a:latin typeface="Calibri"/>
                <a:ea typeface="Calibri"/>
                <a:cs typeface="Calibri"/>
                <a:sym typeface="Calibri"/>
              </a:rPr>
              <a:t>Construcción del Dataset</a:t>
            </a:r>
            <a:endParaRPr b="1">
              <a:solidFill>
                <a:schemeClr val="dk1"/>
              </a:solidFill>
              <a:latin typeface="Calibri"/>
              <a:ea typeface="Calibri"/>
              <a:cs typeface="Calibri"/>
              <a:sym typeface="Calibri"/>
            </a:endParaRPr>
          </a:p>
        </p:txBody>
      </p:sp>
      <p:sp>
        <p:nvSpPr>
          <p:cNvPr id="212" name="Google Shape;212;g369ae16c13d_2_7"/>
          <p:cNvSpPr/>
          <p:nvPr/>
        </p:nvSpPr>
        <p:spPr>
          <a:xfrm>
            <a:off x="4819150" y="3271675"/>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CL">
                <a:solidFill>
                  <a:schemeClr val="dk1"/>
                </a:solidFill>
                <a:latin typeface="Calibri"/>
                <a:ea typeface="Calibri"/>
                <a:cs typeface="Calibri"/>
                <a:sym typeface="Calibri"/>
              </a:rPr>
              <a:t>Entrenamiento de IA</a:t>
            </a:r>
            <a:endParaRPr b="1">
              <a:solidFill>
                <a:schemeClr val="dk1"/>
              </a:solidFill>
              <a:latin typeface="Calibri"/>
              <a:ea typeface="Calibri"/>
              <a:cs typeface="Calibri"/>
              <a:sym typeface="Calibri"/>
            </a:endParaRPr>
          </a:p>
          <a:p>
            <a:pPr indent="0" lvl="0" marL="0" rtl="0" algn="ctr">
              <a:spcBef>
                <a:spcPts val="0"/>
              </a:spcBef>
              <a:spcAft>
                <a:spcPts val="0"/>
              </a:spcAft>
              <a:buNone/>
            </a:pPr>
            <a:r>
              <a:rPr b="1" lang="es-CL">
                <a:solidFill>
                  <a:schemeClr val="dk1"/>
                </a:solidFill>
                <a:latin typeface="Calibri"/>
                <a:ea typeface="Calibri"/>
                <a:cs typeface="Calibri"/>
                <a:sym typeface="Calibri"/>
              </a:rPr>
              <a:t>(Transformer)</a:t>
            </a:r>
            <a:endParaRPr b="1">
              <a:solidFill>
                <a:schemeClr val="dk1"/>
              </a:solidFill>
              <a:latin typeface="Calibri"/>
              <a:ea typeface="Calibri"/>
              <a:cs typeface="Calibri"/>
              <a:sym typeface="Calibri"/>
            </a:endParaRPr>
          </a:p>
        </p:txBody>
      </p:sp>
      <p:sp>
        <p:nvSpPr>
          <p:cNvPr id="214" name="Google Shape;214;g369ae16c13d_2_7"/>
          <p:cNvSpPr/>
          <p:nvPr/>
        </p:nvSpPr>
        <p:spPr>
          <a:xfrm>
            <a:off x="6376575" y="4094375"/>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solidFill>
                  <a:schemeClr val="dk1"/>
                </a:solidFill>
                <a:latin typeface="Calibri"/>
                <a:ea typeface="Calibri"/>
                <a:cs typeface="Calibri"/>
                <a:sym typeface="Calibri"/>
              </a:rPr>
              <a:t>Desarrollo Sistema de Traducción</a:t>
            </a:r>
            <a:endParaRPr b="1">
              <a:solidFill>
                <a:schemeClr val="dk1"/>
              </a:solidFill>
              <a:latin typeface="Calibri"/>
              <a:ea typeface="Calibri"/>
              <a:cs typeface="Calibri"/>
              <a:sym typeface="Calibri"/>
            </a:endParaRPr>
          </a:p>
        </p:txBody>
      </p:sp>
      <p:sp>
        <p:nvSpPr>
          <p:cNvPr id="215" name="Google Shape;215;g369ae16c13d_2_7"/>
          <p:cNvSpPr/>
          <p:nvPr/>
        </p:nvSpPr>
        <p:spPr>
          <a:xfrm>
            <a:off x="7923650" y="4955350"/>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solidFill>
                  <a:schemeClr val="dk1"/>
                </a:solidFill>
                <a:latin typeface="Calibri"/>
                <a:ea typeface="Calibri"/>
                <a:cs typeface="Calibri"/>
                <a:sym typeface="Calibri"/>
              </a:rPr>
              <a:t>Pruebas y Validación</a:t>
            </a:r>
            <a:endParaRPr b="1">
              <a:solidFill>
                <a:schemeClr val="dk1"/>
              </a:solidFill>
              <a:latin typeface="Calibri"/>
              <a:ea typeface="Calibri"/>
              <a:cs typeface="Calibri"/>
              <a:sym typeface="Calibri"/>
            </a:endParaRPr>
          </a:p>
        </p:txBody>
      </p:sp>
      <p:sp>
        <p:nvSpPr>
          <p:cNvPr id="217" name="Google Shape;217;g369ae16c13d_2_7"/>
          <p:cNvSpPr/>
          <p:nvPr/>
        </p:nvSpPr>
        <p:spPr>
          <a:xfrm>
            <a:off x="9405750" y="5828300"/>
            <a:ext cx="2444700" cy="606000"/>
          </a:xfrm>
          <a:prstGeom prst="flowChartAlternateProcess">
            <a:avLst/>
          </a:prstGeom>
          <a:solidFill>
            <a:srgbClr val="C9DAF8"/>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s-CL">
                <a:solidFill>
                  <a:schemeClr val="dk1"/>
                </a:solidFill>
                <a:latin typeface="Calibri"/>
                <a:ea typeface="Calibri"/>
                <a:cs typeface="Calibri"/>
                <a:sym typeface="Calibri"/>
              </a:rPr>
              <a:t>Documentación y Entrega</a:t>
            </a:r>
            <a:endParaRPr b="1">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EscuelaIT Duoc UC - Escuela de Informática y Telecomunicaciones Duoc UC - Duoc  UC | LinkedIn" id="225" name="Google Shape;225;p9"/>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26" name="Google Shape;226;p9"/>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27" name="Google Shape;227;p9"/>
          <p:cNvSpPr txBox="1"/>
          <p:nvPr/>
        </p:nvSpPr>
        <p:spPr>
          <a:xfrm>
            <a:off x="1" y="1155656"/>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Cronograma para el desarrollo del proyecto</a:t>
            </a:r>
            <a:endParaRPr sz="1000">
              <a:solidFill>
                <a:srgbClr val="757070"/>
              </a:solidFill>
              <a:latin typeface="Calibri"/>
              <a:ea typeface="Calibri"/>
              <a:cs typeface="Calibri"/>
              <a:sym typeface="Calibri"/>
            </a:endParaRPr>
          </a:p>
        </p:txBody>
      </p:sp>
      <p:cxnSp>
        <p:nvCxnSpPr>
          <p:cNvPr id="228" name="Google Shape;228;p9"/>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graphicFrame>
        <p:nvGraphicFramePr>
          <p:cNvPr id="229" name="Google Shape;229;p9"/>
          <p:cNvGraphicFramePr/>
          <p:nvPr/>
        </p:nvGraphicFramePr>
        <p:xfrm>
          <a:off x="402163" y="1964875"/>
          <a:ext cx="3000000" cy="3000000"/>
        </p:xfrm>
        <a:graphic>
          <a:graphicData uri="http://schemas.openxmlformats.org/drawingml/2006/table">
            <a:tbl>
              <a:tblPr bandRow="1">
                <a:noFill/>
                <a:tableStyleId>{0DA923A0-7BCF-41F2-81CE-0FEEF28B2689}</a:tableStyleId>
              </a:tblPr>
              <a:tblGrid>
                <a:gridCol w="1296050"/>
                <a:gridCol w="514175"/>
                <a:gridCol w="506725"/>
                <a:gridCol w="506725"/>
                <a:gridCol w="506725"/>
                <a:gridCol w="501725"/>
                <a:gridCol w="506725"/>
                <a:gridCol w="506725"/>
                <a:gridCol w="506725"/>
                <a:gridCol w="506725"/>
                <a:gridCol w="506725"/>
                <a:gridCol w="506725"/>
                <a:gridCol w="506725"/>
                <a:gridCol w="506725"/>
                <a:gridCol w="506725"/>
                <a:gridCol w="506725"/>
                <a:gridCol w="506725"/>
                <a:gridCol w="506725"/>
                <a:gridCol w="506725"/>
                <a:gridCol w="506725"/>
                <a:gridCol w="506725"/>
              </a:tblGrid>
              <a:tr h="290125">
                <a:tc rowSpan="2">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Actividad</a:t>
                      </a:r>
                      <a:endParaRPr b="1" sz="800">
                        <a:latin typeface="Calibri"/>
                        <a:ea typeface="Calibri"/>
                        <a:cs typeface="Calibri"/>
                        <a:sym typeface="Calibri"/>
                      </a:endParaRPr>
                    </a:p>
                  </a:txBody>
                  <a:tcPr marT="0" marB="0" marR="68575" marL="68575"/>
                </a:tc>
                <a:tc gridSpan="4">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Fase 1</a:t>
                      </a:r>
                      <a:endParaRPr b="1" sz="800">
                        <a:latin typeface="Calibri"/>
                        <a:ea typeface="Calibri"/>
                        <a:cs typeface="Calibri"/>
                        <a:sym typeface="Calibri"/>
                      </a:endParaRPr>
                    </a:p>
                  </a:txBody>
                  <a:tcPr marT="0" marB="0" marR="68575" marL="68575">
                    <a:solidFill>
                      <a:srgbClr val="E2EFD9"/>
                    </a:solidFill>
                  </a:tcPr>
                </a:tc>
                <a:tc hMerge="1"/>
                <a:tc hMerge="1"/>
                <a:tc hMerge="1"/>
                <a:tc gridSpan="12">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Fase 2</a:t>
                      </a:r>
                      <a:endParaRPr b="1" sz="800">
                        <a:latin typeface="Calibri"/>
                        <a:ea typeface="Calibri"/>
                        <a:cs typeface="Calibri"/>
                        <a:sym typeface="Calibri"/>
                      </a:endParaRPr>
                    </a:p>
                  </a:txBody>
                  <a:tcPr marT="0" marB="0" marR="68575" marL="68575">
                    <a:solidFill>
                      <a:srgbClr val="FFF2CC"/>
                    </a:solidFill>
                  </a:tcPr>
                </a:tc>
                <a:tc hMerge="1"/>
                <a:tc hMerge="1"/>
                <a:tc hMerge="1"/>
                <a:tc hMerge="1"/>
                <a:tc hMerge="1"/>
                <a:tc hMerge="1"/>
                <a:tc hMerge="1"/>
                <a:tc hMerge="1"/>
                <a:tc hMerge="1"/>
                <a:tc hMerge="1"/>
                <a:tc hMerge="1"/>
                <a:tc gridSpan="4">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Fase 3</a:t>
                      </a:r>
                      <a:endParaRPr b="1" sz="800">
                        <a:latin typeface="Calibri"/>
                        <a:ea typeface="Calibri"/>
                        <a:cs typeface="Calibri"/>
                        <a:sym typeface="Calibri"/>
                      </a:endParaRPr>
                    </a:p>
                  </a:txBody>
                  <a:tcPr marT="0" marB="0" marR="68575" marL="68575">
                    <a:solidFill>
                      <a:srgbClr val="FBE5D5"/>
                    </a:solidFill>
                  </a:tcPr>
                </a:tc>
                <a:tc hMerge="1"/>
                <a:tc hMerge="1"/>
                <a:tc hMerge="1"/>
              </a:tr>
              <a:tr h="366150">
                <a:tc vMerge="1"/>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2</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3</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4</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5</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6</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7</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8</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9</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10</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11</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12</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13</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14</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15</a:t>
                      </a:r>
                      <a:endParaRPr b="1" sz="800">
                        <a:latin typeface="Calibri"/>
                        <a:ea typeface="Calibri"/>
                        <a:cs typeface="Calibri"/>
                        <a:sym typeface="Calibri"/>
                      </a:endParaRPr>
                    </a:p>
                  </a:txBody>
                  <a:tcPr marT="0" marB="0" marR="68575" marL="68575"/>
                </a:tc>
                <a:tc gridSpan="2">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16</a:t>
                      </a:r>
                      <a:endParaRPr b="1" sz="800">
                        <a:latin typeface="Calibri"/>
                        <a:ea typeface="Calibri"/>
                        <a:cs typeface="Calibri"/>
                        <a:sym typeface="Calibri"/>
                      </a:endParaRPr>
                    </a:p>
                  </a:txBody>
                  <a:tcPr marT="0" marB="0" marR="68575" marL="68575"/>
                </a:tc>
                <a:tc hMerge="1"/>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17</a:t>
                      </a:r>
                      <a:endParaRPr b="1" sz="800">
                        <a:latin typeface="Calibri"/>
                        <a:ea typeface="Calibri"/>
                        <a:cs typeface="Calibri"/>
                        <a:sym typeface="Calibri"/>
                      </a:endParaRPr>
                    </a:p>
                  </a:txBody>
                  <a:tcPr marT="0" marB="0" marR="68575" marL="68575"/>
                </a:tc>
                <a:tc>
                  <a:txBody>
                    <a:bodyPr/>
                    <a:lstStyle/>
                    <a:p>
                      <a:pPr indent="0" lvl="0" marL="0" rtl="0" algn="ctr">
                        <a:lnSpc>
                          <a:spcPct val="150000"/>
                        </a:lnSpc>
                        <a:spcBef>
                          <a:spcPts val="0"/>
                        </a:spcBef>
                        <a:spcAft>
                          <a:spcPts val="800"/>
                        </a:spcAft>
                        <a:buNone/>
                      </a:pPr>
                      <a:r>
                        <a:rPr b="1" lang="es-CL" sz="800">
                          <a:latin typeface="Calibri"/>
                          <a:ea typeface="Calibri"/>
                          <a:cs typeface="Calibri"/>
                          <a:sym typeface="Calibri"/>
                        </a:rPr>
                        <a:t>S 18</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47382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Definición del proyecto</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highlight>
                          <a:srgbClr val="00FF00"/>
                        </a:highlight>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highlight>
                          <a:srgbClr val="00FF00"/>
                        </a:highlight>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47382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Definición del alcance</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47382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Análisis de requisitos</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84132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Investigación y revisión de tecnologías disponibles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65757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Diseño de arquitectura de software</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r h="102502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Desarrollo del módulo de captura de voz  para convertir a  texto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EscuelaIT Duoc UC - Escuela de Informática y Telecomunicaciones Duoc UC - Duoc  UC | LinkedIn" id="234" name="Google Shape;234;g36996a80142_0_172"/>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35" name="Google Shape;235;g36996a80142_0_172"/>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36" name="Google Shape;236;g36996a80142_0_172"/>
          <p:cNvSpPr txBox="1"/>
          <p:nvPr/>
        </p:nvSpPr>
        <p:spPr>
          <a:xfrm>
            <a:off x="1" y="1155656"/>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Cronograma para el desarrollo del proyecto</a:t>
            </a:r>
            <a:endParaRPr sz="1000">
              <a:solidFill>
                <a:srgbClr val="757070"/>
              </a:solidFill>
              <a:latin typeface="Calibri"/>
              <a:ea typeface="Calibri"/>
              <a:cs typeface="Calibri"/>
              <a:sym typeface="Calibri"/>
            </a:endParaRPr>
          </a:p>
        </p:txBody>
      </p:sp>
      <p:cxnSp>
        <p:nvCxnSpPr>
          <p:cNvPr id="237" name="Google Shape;237;g36996a80142_0_172"/>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graphicFrame>
        <p:nvGraphicFramePr>
          <p:cNvPr id="238" name="Google Shape;238;g36996a80142_0_172"/>
          <p:cNvGraphicFramePr/>
          <p:nvPr/>
        </p:nvGraphicFramePr>
        <p:xfrm>
          <a:off x="445325" y="1964900"/>
          <a:ext cx="3000000" cy="3000000"/>
        </p:xfrm>
        <a:graphic>
          <a:graphicData uri="http://schemas.openxmlformats.org/drawingml/2006/table">
            <a:tbl>
              <a:tblPr bandRow="1">
                <a:noFill/>
                <a:tableStyleId>{0DA923A0-7BCF-41F2-81CE-0FEEF28B2689}</a:tableStyleId>
              </a:tblPr>
              <a:tblGrid>
                <a:gridCol w="1368950"/>
                <a:gridCol w="543100"/>
                <a:gridCol w="528950"/>
                <a:gridCol w="529950"/>
                <a:gridCol w="532975"/>
                <a:gridCol w="529950"/>
                <a:gridCol w="529950"/>
                <a:gridCol w="529950"/>
                <a:gridCol w="529950"/>
                <a:gridCol w="529950"/>
                <a:gridCol w="529950"/>
                <a:gridCol w="529950"/>
                <a:gridCol w="529950"/>
                <a:gridCol w="531975"/>
                <a:gridCol w="531975"/>
                <a:gridCol w="531975"/>
                <a:gridCol w="419350"/>
                <a:gridCol w="524875"/>
                <a:gridCol w="531975"/>
                <a:gridCol w="531975"/>
              </a:tblGrid>
              <a:tr h="786750">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Creación de dataset de lengua de señas</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r>
              <a:tr h="1091800">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Desarrollo del módulo de traducción de texto a lengua de señas</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r>
              <a:tr h="786750">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Integración de componentes de software</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r>
              <a:tr h="48167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Optimización de rendimiento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r>
              <a:tr h="48167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Pruebas de software</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r>
              <a:tr h="48167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Ajustes y correcciones finales</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r>
              <a:tr h="481675">
                <a:tc>
                  <a:txBody>
                    <a:bodyPr/>
                    <a:lstStyle/>
                    <a:p>
                      <a:pPr indent="0" lvl="0" marL="0" rtl="0" algn="just">
                        <a:lnSpc>
                          <a:spcPct val="150000"/>
                        </a:lnSpc>
                        <a:spcBef>
                          <a:spcPts val="0"/>
                        </a:spcBef>
                        <a:spcAft>
                          <a:spcPts val="800"/>
                        </a:spcAft>
                        <a:buNone/>
                      </a:pPr>
                      <a:r>
                        <a:rPr b="1" lang="es-CL" sz="800">
                          <a:latin typeface="Calibri"/>
                          <a:ea typeface="Calibri"/>
                          <a:cs typeface="Calibri"/>
                          <a:sym typeface="Calibri"/>
                        </a:rPr>
                        <a:t>Documentación del proyecto</a:t>
                      </a:r>
                      <a:endParaRPr b="1" sz="800">
                        <a:latin typeface="Calibri"/>
                        <a:ea typeface="Calibri"/>
                        <a:cs typeface="Calibri"/>
                        <a:sym typeface="Calibri"/>
                      </a:endParaRPr>
                    </a:p>
                  </a:txBody>
                  <a:tcPr marT="0" marB="0" marR="68575" marL="68575"/>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D9EAD3"/>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FF2CC"/>
                    </a:solidFill>
                  </a:tcPr>
                </a:tc>
                <a:tc gridSpan="2">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c hMerge="1"/>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c>
                  <a:txBody>
                    <a:bodyPr/>
                    <a:lstStyle/>
                    <a:p>
                      <a:pPr indent="0" lvl="0" marL="0" rtl="0" algn="just">
                        <a:lnSpc>
                          <a:spcPct val="150000"/>
                        </a:lnSpc>
                        <a:spcBef>
                          <a:spcPts val="0"/>
                        </a:spcBef>
                        <a:spcAft>
                          <a:spcPts val="800"/>
                        </a:spcAft>
                        <a:buNone/>
                      </a:pPr>
                      <a:r>
                        <a:t/>
                      </a:r>
                      <a:endParaRPr b="1" sz="800">
                        <a:latin typeface="Calibri"/>
                        <a:ea typeface="Calibri"/>
                        <a:cs typeface="Calibri"/>
                        <a:sym typeface="Calibri"/>
                      </a:endParaRPr>
                    </a:p>
                  </a:txBody>
                  <a:tcPr marT="0" marB="0" marR="68575" marL="68575">
                    <a:solidFill>
                      <a:srgbClr val="FBE5D5"/>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69a32d574c_0_0"/>
          <p:cNvSpPr txBox="1"/>
          <p:nvPr/>
        </p:nvSpPr>
        <p:spPr>
          <a:xfrm>
            <a:off x="0" y="888075"/>
            <a:ext cx="12192000" cy="908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DIAGRAMA DE PROCESOS</a:t>
            </a:r>
            <a:endParaRPr sz="3600">
              <a:solidFill>
                <a:schemeClr val="dk1"/>
              </a:solidFill>
              <a:latin typeface="Calibri"/>
              <a:ea typeface="Calibri"/>
              <a:cs typeface="Calibri"/>
              <a:sym typeface="Calibri"/>
            </a:endParaRPr>
          </a:p>
          <a:p>
            <a:pPr indent="0" lvl="0" marL="0" marR="0" rtl="0" algn="ctr">
              <a:spcBef>
                <a:spcPts val="0"/>
              </a:spcBef>
              <a:spcAft>
                <a:spcPts val="0"/>
              </a:spcAft>
              <a:buNone/>
            </a:pPr>
            <a:r>
              <a:rPr lang="es-CL" sz="1700">
                <a:solidFill>
                  <a:schemeClr val="dk1"/>
                </a:solidFill>
                <a:latin typeface="Calibri"/>
                <a:ea typeface="Calibri"/>
                <a:cs typeface="Calibri"/>
                <a:sym typeface="Calibri"/>
              </a:rPr>
              <a:t>(TO BE)</a:t>
            </a:r>
            <a:endParaRPr sz="1700">
              <a:solidFill>
                <a:schemeClr val="dk1"/>
              </a:solidFill>
              <a:latin typeface="Calibri"/>
              <a:ea typeface="Calibri"/>
              <a:cs typeface="Calibri"/>
              <a:sym typeface="Calibri"/>
            </a:endParaRPr>
          </a:p>
        </p:txBody>
      </p:sp>
      <p:sp>
        <p:nvSpPr>
          <p:cNvPr id="244" name="Google Shape;244;g369a32d574c_0_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pic>
        <p:nvPicPr>
          <p:cNvPr descr="EscuelaIT Duoc UC - Escuela de Informática y Telecomunicaciones Duoc UC - Duoc  UC | LinkedIn" id="245" name="Google Shape;245;g369a32d574c_0_0"/>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pic>
        <p:nvPicPr>
          <p:cNvPr id="246" name="Google Shape;246;g369a32d574c_0_0"/>
          <p:cNvPicPr preferRelativeResize="0"/>
          <p:nvPr/>
        </p:nvPicPr>
        <p:blipFill>
          <a:blip r:embed="rId5">
            <a:alphaModFix/>
          </a:blip>
          <a:stretch>
            <a:fillRect/>
          </a:stretch>
        </p:blipFill>
        <p:spPr>
          <a:xfrm>
            <a:off x="854263" y="1729618"/>
            <a:ext cx="10483476" cy="499603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EscuelaIT Duoc UC - Escuela de Informática y Telecomunicaciones Duoc UC - Duoc  UC | LinkedIn" id="251" name="Google Shape;251;p10"/>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52" name="Google Shape;252;p10"/>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53" name="Google Shape;253;p10"/>
          <p:cNvSpPr txBox="1"/>
          <p:nvPr/>
        </p:nvSpPr>
        <p:spPr>
          <a:xfrm>
            <a:off x="49850" y="887867"/>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cxnSp>
        <p:nvCxnSpPr>
          <p:cNvPr id="254" name="Google Shape;254;p10"/>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pic>
        <p:nvPicPr>
          <p:cNvPr id="255" name="Google Shape;255;p10"/>
          <p:cNvPicPr preferRelativeResize="0"/>
          <p:nvPr/>
        </p:nvPicPr>
        <p:blipFill>
          <a:blip r:embed="rId5">
            <a:alphaModFix/>
          </a:blip>
          <a:stretch>
            <a:fillRect/>
          </a:stretch>
        </p:blipFill>
        <p:spPr>
          <a:xfrm>
            <a:off x="2889125" y="1534368"/>
            <a:ext cx="6513443" cy="5018833"/>
          </a:xfrm>
          <a:prstGeom prst="rect">
            <a:avLst/>
          </a:prstGeom>
          <a:noFill/>
          <a:ln cap="flat" cmpd="sng" w="19050">
            <a:solidFill>
              <a:schemeClr val="dk2"/>
            </a:solidFill>
            <a:prstDash val="solid"/>
            <a:round/>
            <a:headEnd len="sm" w="sm" type="none"/>
            <a:tailEnd len="sm" w="sm" type="none"/>
          </a:ln>
        </p:spPr>
      </p:pic>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EscuelaIT Duoc UC - Escuela de Informática y Telecomunicaciones Duoc UC - Duoc  UC | LinkedIn" id="260" name="Google Shape;260;g369ae16c13d_0_11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61" name="Google Shape;261;g369ae16c13d_0_11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62" name="Google Shape;262;g369ae16c13d_0_116"/>
          <p:cNvSpPr txBox="1"/>
          <p:nvPr/>
        </p:nvSpPr>
        <p:spPr>
          <a:xfrm>
            <a:off x="49850" y="887867"/>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cxnSp>
        <p:nvCxnSpPr>
          <p:cNvPr id="263" name="Google Shape;263;g369ae16c13d_0_116"/>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64" name="Google Shape;264;g369ae16c13d_0_116"/>
          <p:cNvPicPr preferRelativeResize="0"/>
          <p:nvPr/>
        </p:nvPicPr>
        <p:blipFill>
          <a:blip r:embed="rId5">
            <a:alphaModFix/>
          </a:blip>
          <a:stretch>
            <a:fillRect/>
          </a:stretch>
        </p:blipFill>
        <p:spPr>
          <a:xfrm>
            <a:off x="2889125" y="1534368"/>
            <a:ext cx="6513443" cy="5018833"/>
          </a:xfrm>
          <a:prstGeom prst="rect">
            <a:avLst/>
          </a:prstGeom>
          <a:noFill/>
          <a:ln cap="flat" cmpd="sng" w="19050">
            <a:solidFill>
              <a:schemeClr val="dk2"/>
            </a:solidFill>
            <a:prstDash val="solid"/>
            <a:round/>
            <a:headEnd len="sm" w="sm" type="none"/>
            <a:tailEnd len="sm" w="sm" type="none"/>
          </a:ln>
        </p:spPr>
      </p:pic>
      <p:sp>
        <p:nvSpPr>
          <p:cNvPr id="265" name="Google Shape;265;g369ae16c13d_0_116"/>
          <p:cNvSpPr/>
          <p:nvPr/>
        </p:nvSpPr>
        <p:spPr>
          <a:xfrm>
            <a:off x="3035325" y="1664225"/>
            <a:ext cx="4757700" cy="26259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EscuelaIT Duoc UC - Escuela de Informática y Telecomunicaciones Duoc UC - Duoc  UC | LinkedIn" id="270" name="Google Shape;270;g36996a80142_0_75"/>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71" name="Google Shape;271;g36996a80142_0_75"/>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72" name="Google Shape;272;g36996a80142_0_75"/>
          <p:cNvSpPr txBox="1"/>
          <p:nvPr/>
        </p:nvSpPr>
        <p:spPr>
          <a:xfrm>
            <a:off x="49850" y="887867"/>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del Hardware</a:t>
            </a:r>
            <a:endParaRPr/>
          </a:p>
        </p:txBody>
      </p:sp>
      <p:cxnSp>
        <p:nvCxnSpPr>
          <p:cNvPr id="273" name="Google Shape;273;g36996a80142_0_75"/>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74" name="Google Shape;274;g36996a80142_0_75"/>
          <p:cNvPicPr preferRelativeResize="0"/>
          <p:nvPr/>
        </p:nvPicPr>
        <p:blipFill>
          <a:blip r:embed="rId5">
            <a:alphaModFix/>
          </a:blip>
          <a:stretch>
            <a:fillRect/>
          </a:stretch>
        </p:blipFill>
        <p:spPr>
          <a:xfrm>
            <a:off x="2016200" y="1534367"/>
            <a:ext cx="8431989" cy="501883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EscuelaIT Duoc UC - Escuela de Informática y Telecomunicaciones Duoc UC - Duoc  UC | LinkedIn" id="279" name="Google Shape;279;g369ae16c13d_0_12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280" name="Google Shape;280;g369ae16c13d_0_12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281" name="Google Shape;281;g369ae16c13d_0_126"/>
          <p:cNvSpPr txBox="1"/>
          <p:nvPr/>
        </p:nvSpPr>
        <p:spPr>
          <a:xfrm>
            <a:off x="49850" y="887867"/>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del Hardware</a:t>
            </a:r>
            <a:endParaRPr/>
          </a:p>
        </p:txBody>
      </p:sp>
      <p:cxnSp>
        <p:nvCxnSpPr>
          <p:cNvPr id="282" name="Google Shape;282;g369ae16c13d_0_126"/>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pic>
        <p:nvPicPr>
          <p:cNvPr id="283" name="Google Shape;283;g369ae16c13d_0_126"/>
          <p:cNvPicPr preferRelativeResize="0"/>
          <p:nvPr/>
        </p:nvPicPr>
        <p:blipFill>
          <a:blip r:embed="rId5">
            <a:alphaModFix/>
          </a:blip>
          <a:stretch>
            <a:fillRect/>
          </a:stretch>
        </p:blipFill>
        <p:spPr>
          <a:xfrm>
            <a:off x="2016200" y="1534367"/>
            <a:ext cx="8431989" cy="5018832"/>
          </a:xfrm>
          <a:prstGeom prst="rect">
            <a:avLst/>
          </a:prstGeom>
          <a:noFill/>
          <a:ln>
            <a:noFill/>
          </a:ln>
        </p:spPr>
      </p:pic>
      <p:sp>
        <p:nvSpPr>
          <p:cNvPr id="284" name="Google Shape;284;g369ae16c13d_0_126"/>
          <p:cNvSpPr/>
          <p:nvPr/>
        </p:nvSpPr>
        <p:spPr>
          <a:xfrm>
            <a:off x="2103300" y="1664225"/>
            <a:ext cx="8026500" cy="23754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69d4573da3_1_12"/>
          <p:cNvSpPr txBox="1"/>
          <p:nvPr/>
        </p:nvSpPr>
        <p:spPr>
          <a:xfrm>
            <a:off x="60650" y="7908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290" name="Google Shape;290;g369d4573da3_1_12"/>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291" name="Google Shape;291;g369d4573da3_1_12"/>
          <p:cNvSpPr txBox="1"/>
          <p:nvPr/>
        </p:nvSpPr>
        <p:spPr>
          <a:xfrm>
            <a:off x="452100" y="1513500"/>
            <a:ext cx="11739900" cy="46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s-CL" sz="1600">
                <a:solidFill>
                  <a:schemeClr val="dk1"/>
                </a:solidFill>
              </a:rPr>
              <a:t>Estructura General de los Datos:</a:t>
            </a:r>
            <a:endParaRPr b="1" sz="1600">
              <a:solidFill>
                <a:schemeClr val="dk1"/>
              </a:solidFill>
            </a:endParaRPr>
          </a:p>
          <a:p>
            <a:pPr indent="-317500" lvl="0" marL="457200" rtl="0" algn="l">
              <a:lnSpc>
                <a:spcPct val="115000"/>
              </a:lnSpc>
              <a:spcBef>
                <a:spcPts val="1200"/>
              </a:spcBef>
              <a:spcAft>
                <a:spcPts val="0"/>
              </a:spcAft>
              <a:buClr>
                <a:schemeClr val="dk1"/>
              </a:buClr>
              <a:buSzPts val="1400"/>
              <a:buChar char="●"/>
            </a:pPr>
            <a:r>
              <a:rPr lang="es-CL">
                <a:solidFill>
                  <a:schemeClr val="dk1"/>
                </a:solidFill>
              </a:rPr>
              <a:t>El sistema utiliza un repositorio no relacional de un archivo único en </a:t>
            </a:r>
            <a:r>
              <a:rPr b="1" lang="es-CL">
                <a:solidFill>
                  <a:schemeClr val="dk1"/>
                </a:solidFill>
              </a:rPr>
              <a:t>formato JSON</a:t>
            </a:r>
            <a:r>
              <a:rPr lang="es-CL">
                <a:solidFill>
                  <a:schemeClr val="dk1"/>
                </a:solidFill>
              </a:rPr>
              <a:t> para almacenar y transmitir datos de cada frame (fotograma).</a:t>
            </a:r>
            <a:br>
              <a:rPr lang="es-CL">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s-CL">
                <a:solidFill>
                  <a:schemeClr val="dk1"/>
                </a:solidFill>
              </a:rPr>
              <a:t>Cada frame contiene:</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"palabra_predicha"</a:t>
            </a:r>
            <a:r>
              <a:rPr lang="es-CL">
                <a:solidFill>
                  <a:schemeClr val="dk1"/>
                </a:solidFill>
              </a:rPr>
              <a:t> → texto asociado (opcional)</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"fotograma"</a:t>
            </a:r>
            <a:r>
              <a:rPr lang="es-CL">
                <a:solidFill>
                  <a:schemeClr val="dk1"/>
                </a:solidFill>
              </a:rPr>
              <a:t> → número del frame</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"body"</a:t>
            </a:r>
            <a:r>
              <a:rPr lang="es-CL">
                <a:solidFill>
                  <a:schemeClr val="dk1"/>
                </a:solidFill>
              </a:rPr>
              <a:t> → lista de puntos clave (landmarks) del cuerpo</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"hands"</a:t>
            </a:r>
            <a:r>
              <a:rPr lang="es-CL">
                <a:solidFill>
                  <a:schemeClr val="dk1"/>
                </a:solidFill>
              </a:rPr>
              <a:t> → lista de puntos clave (landmarks) de las manos</a:t>
            </a:r>
            <a:endParaRPr>
              <a:solidFill>
                <a:schemeClr val="dk1"/>
              </a:solidFill>
            </a:endParaRPr>
          </a:p>
          <a:p>
            <a:pPr indent="0" lvl="0" marL="0" rtl="0" algn="l">
              <a:lnSpc>
                <a:spcPct val="115000"/>
              </a:lnSpc>
              <a:spcBef>
                <a:spcPts val="120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b="1" sz="1300">
              <a:solidFill>
                <a:schemeClr val="dk1"/>
              </a:solidFill>
            </a:endParaRPr>
          </a:p>
        </p:txBody>
      </p:sp>
      <p:pic>
        <p:nvPicPr>
          <p:cNvPr id="292" name="Google Shape;292;g369d4573da3_1_12"/>
          <p:cNvPicPr preferRelativeResize="0"/>
          <p:nvPr/>
        </p:nvPicPr>
        <p:blipFill>
          <a:blip r:embed="rId4">
            <a:alphaModFix/>
          </a:blip>
          <a:stretch>
            <a:fillRect/>
          </a:stretch>
        </p:blipFill>
        <p:spPr>
          <a:xfrm>
            <a:off x="6437950" y="2639287"/>
            <a:ext cx="3850200" cy="2580575"/>
          </a:xfrm>
          <a:prstGeom prst="rect">
            <a:avLst/>
          </a:prstGeom>
          <a:noFill/>
          <a:ln>
            <a:noFill/>
          </a:ln>
        </p:spPr>
      </p:pic>
      <p:sp>
        <p:nvSpPr>
          <p:cNvPr id="293" name="Google Shape;293;g369d4573da3_1_12"/>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pic>
        <p:nvPicPr>
          <p:cNvPr descr="EscuelaIT Duoc UC - Escuela de Informática y Telecomunicaciones Duoc UC - Duoc  UC | LinkedIn" id="294" name="Google Shape;294;g369d4573da3_1_12"/>
          <p:cNvPicPr preferRelativeResize="0"/>
          <p:nvPr/>
        </p:nvPicPr>
        <p:blipFill rotWithShape="1">
          <a:blip r:embed="rId5">
            <a:alphaModFix/>
          </a:blip>
          <a:srcRect b="0" l="0" r="0" t="0"/>
          <a:stretch/>
        </p:blipFill>
        <p:spPr>
          <a:xfrm>
            <a:off x="8772152" y="207550"/>
            <a:ext cx="3141406" cy="7853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69d4573da3_1_96"/>
          <p:cNvSpPr txBox="1"/>
          <p:nvPr/>
        </p:nvSpPr>
        <p:spPr>
          <a:xfrm>
            <a:off x="60650" y="7908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300" name="Google Shape;300;g369d4573da3_1_96"/>
          <p:cNvCxnSpPr/>
          <p:nvPr/>
        </p:nvCxnSpPr>
        <p:spPr>
          <a:xfrm>
            <a:off x="0" y="758027"/>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301" name="Google Shape;301;g369d4573da3_1_96"/>
          <p:cNvSpPr txBox="1"/>
          <p:nvPr/>
        </p:nvSpPr>
        <p:spPr>
          <a:xfrm>
            <a:off x="452100" y="1513500"/>
            <a:ext cx="11739900" cy="432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CL">
                <a:solidFill>
                  <a:schemeClr val="dk1"/>
                </a:solidFill>
              </a:rPr>
              <a:t>Estructura del bloque </a:t>
            </a:r>
            <a:r>
              <a:rPr b="1" lang="es-CL">
                <a:solidFill>
                  <a:srgbClr val="188038"/>
                </a:solidFill>
                <a:latin typeface="Roboto Mono"/>
                <a:ea typeface="Roboto Mono"/>
                <a:cs typeface="Roboto Mono"/>
                <a:sym typeface="Roboto Mono"/>
              </a:rPr>
              <a:t>body</a:t>
            </a:r>
            <a:r>
              <a:rPr b="1" lang="es-CL">
                <a:solidFill>
                  <a:schemeClr val="dk1"/>
                </a:solidFill>
              </a:rPr>
              <a:t>:</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s-CL">
                <a:solidFill>
                  <a:schemeClr val="dk1"/>
                </a:solidFill>
              </a:rPr>
              <a:t>Lista de landmarks corporales (33 puntos)</a:t>
            </a:r>
            <a:br>
              <a:rPr lang="es-CL">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s-CL">
                <a:solidFill>
                  <a:schemeClr val="dk1"/>
                </a:solidFill>
              </a:rPr>
              <a:t>Cada elemento:</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index</a:t>
            </a:r>
            <a:r>
              <a:rPr lang="es-CL">
                <a:solidFill>
                  <a:schemeClr val="dk1"/>
                </a:solidFill>
              </a:rPr>
              <a:t>: número identificador</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name</a:t>
            </a:r>
            <a:r>
              <a:rPr lang="es-CL">
                <a:solidFill>
                  <a:schemeClr val="dk1"/>
                </a:solidFill>
              </a:rPr>
              <a:t>: nombre del punto (ej: NOSE, LEFT_SHOULDER)</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x, y, z</a:t>
            </a:r>
            <a:r>
              <a:rPr lang="es-CL">
                <a:solidFill>
                  <a:schemeClr val="dk1"/>
                </a:solidFill>
              </a:rPr>
              <a:t>: coordenadas normalizadas en 3D</a:t>
            </a:r>
            <a:endParaRPr>
              <a:solidFill>
                <a:schemeClr val="dk1"/>
              </a:solidFill>
            </a:endParaRPr>
          </a:p>
          <a:p>
            <a:pPr indent="0" lvl="0" marL="914400" rtl="0" algn="l">
              <a:lnSpc>
                <a:spcPct val="115000"/>
              </a:lnSpc>
              <a:spcBef>
                <a:spcPts val="120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b="1" sz="1300">
              <a:solidFill>
                <a:schemeClr val="dk1"/>
              </a:solidFill>
            </a:endParaRPr>
          </a:p>
        </p:txBody>
      </p:sp>
      <p:pic>
        <p:nvPicPr>
          <p:cNvPr id="302" name="Google Shape;302;g369d4573da3_1_96"/>
          <p:cNvPicPr preferRelativeResize="0"/>
          <p:nvPr/>
        </p:nvPicPr>
        <p:blipFill>
          <a:blip r:embed="rId4">
            <a:alphaModFix/>
          </a:blip>
          <a:stretch>
            <a:fillRect/>
          </a:stretch>
        </p:blipFill>
        <p:spPr>
          <a:xfrm>
            <a:off x="2009325" y="5029075"/>
            <a:ext cx="7934325" cy="1340025"/>
          </a:xfrm>
          <a:prstGeom prst="rect">
            <a:avLst/>
          </a:prstGeom>
          <a:noFill/>
          <a:ln>
            <a:noFill/>
          </a:ln>
        </p:spPr>
      </p:pic>
      <p:pic>
        <p:nvPicPr>
          <p:cNvPr descr="EscuelaIT Duoc UC - Escuela de Informática y Telecomunicaciones Duoc UC - Duoc  UC | LinkedIn" id="303" name="Google Shape;303;g369d4573da3_1_96"/>
          <p:cNvPicPr preferRelativeResize="0"/>
          <p:nvPr/>
        </p:nvPicPr>
        <p:blipFill rotWithShape="1">
          <a:blip r:embed="rId5">
            <a:alphaModFix/>
          </a:blip>
          <a:srcRect b="0" l="0" r="0" t="0"/>
          <a:stretch/>
        </p:blipFill>
        <p:spPr>
          <a:xfrm>
            <a:off x="8772152" y="207550"/>
            <a:ext cx="3141406" cy="785352"/>
          </a:xfrm>
          <a:prstGeom prst="rect">
            <a:avLst/>
          </a:prstGeom>
          <a:noFill/>
          <a:ln>
            <a:noFill/>
          </a:ln>
        </p:spPr>
      </p:pic>
      <p:sp>
        <p:nvSpPr>
          <p:cNvPr id="304" name="Google Shape;304;g369d4573da3_1_9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69d4573da3_1_180"/>
          <p:cNvSpPr txBox="1"/>
          <p:nvPr/>
        </p:nvSpPr>
        <p:spPr>
          <a:xfrm>
            <a:off x="0" y="797830"/>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Modelo de datos</a:t>
            </a:r>
            <a:endParaRPr/>
          </a:p>
        </p:txBody>
      </p:sp>
      <p:cxnSp>
        <p:nvCxnSpPr>
          <p:cNvPr id="310" name="Google Shape;310;g369d4573da3_1_180"/>
          <p:cNvCxnSpPr/>
          <p:nvPr/>
        </p:nvCxnSpPr>
        <p:spPr>
          <a:xfrm>
            <a:off x="-60650" y="765052"/>
            <a:ext cx="4085700" cy="0"/>
          </a:xfrm>
          <a:prstGeom prst="straightConnector1">
            <a:avLst/>
          </a:prstGeom>
          <a:noFill/>
          <a:ln cap="flat" cmpd="sng" w="15875">
            <a:solidFill>
              <a:srgbClr val="F5F7FC"/>
            </a:solidFill>
            <a:prstDash val="solid"/>
            <a:miter lim="800000"/>
            <a:headEnd len="sm" w="sm" type="none"/>
            <a:tailEnd len="sm" w="sm" type="none"/>
          </a:ln>
        </p:spPr>
      </p:cxnSp>
      <p:sp>
        <p:nvSpPr>
          <p:cNvPr id="311" name="Google Shape;311;g369d4573da3_1_180"/>
          <p:cNvSpPr txBox="1"/>
          <p:nvPr/>
        </p:nvSpPr>
        <p:spPr>
          <a:xfrm>
            <a:off x="391450" y="1520525"/>
            <a:ext cx="11739900" cy="530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CL">
                <a:solidFill>
                  <a:schemeClr val="dk1"/>
                </a:solidFill>
              </a:rPr>
              <a:t>Estructura del bloque </a:t>
            </a:r>
            <a:r>
              <a:rPr b="1" lang="es-CL">
                <a:solidFill>
                  <a:srgbClr val="188038"/>
                </a:solidFill>
                <a:latin typeface="Roboto Mono"/>
                <a:ea typeface="Roboto Mono"/>
                <a:cs typeface="Roboto Mono"/>
                <a:sym typeface="Roboto Mono"/>
              </a:rPr>
              <a:t>hands</a:t>
            </a:r>
            <a:r>
              <a:rPr b="1" lang="es-CL">
                <a:solidFill>
                  <a:schemeClr val="dk1"/>
                </a:solidFill>
              </a:rPr>
              <a:t>:</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s-CL">
                <a:solidFill>
                  <a:schemeClr val="dk1"/>
                </a:solidFill>
              </a:rPr>
              <a:t>Lista de landmarks de manos (21 puntos por mano)</a:t>
            </a:r>
            <a:br>
              <a:rPr lang="es-CL">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s-CL">
                <a:solidFill>
                  <a:schemeClr val="dk1"/>
                </a:solidFill>
              </a:rPr>
              <a:t>Cada elemento:</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hand</a:t>
            </a:r>
            <a:r>
              <a:rPr lang="es-CL">
                <a:solidFill>
                  <a:schemeClr val="dk1"/>
                </a:solidFill>
              </a:rPr>
              <a:t>: "Left" o "Right"</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landmark</a:t>
            </a:r>
            <a:r>
              <a:rPr lang="es-CL">
                <a:solidFill>
                  <a:schemeClr val="dk1"/>
                </a:solidFill>
              </a:rPr>
              <a:t>: número identificador</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name</a:t>
            </a:r>
            <a:r>
              <a:rPr lang="es-CL">
                <a:solidFill>
                  <a:schemeClr val="dk1"/>
                </a:solidFill>
              </a:rPr>
              <a:t>: nombre del punto (ej: WRIST, THUMB_TIP)</a:t>
            </a:r>
            <a:br>
              <a:rPr lang="es-CL">
                <a:solidFill>
                  <a:schemeClr val="dk1"/>
                </a:solidFill>
              </a:rPr>
            </a:b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s-CL">
                <a:solidFill>
                  <a:srgbClr val="188038"/>
                </a:solidFill>
                <a:latin typeface="Roboto Mono"/>
                <a:ea typeface="Roboto Mono"/>
                <a:cs typeface="Roboto Mono"/>
                <a:sym typeface="Roboto Mono"/>
              </a:rPr>
              <a:t>x, y, z</a:t>
            </a:r>
            <a:r>
              <a:rPr lang="es-CL">
                <a:solidFill>
                  <a:schemeClr val="dk1"/>
                </a:solidFill>
              </a:rPr>
              <a:t>: coordenadas normalizadas en 3D</a:t>
            </a:r>
            <a:endParaRPr>
              <a:solidFill>
                <a:schemeClr val="dk1"/>
              </a:solidFill>
            </a:endParaRPr>
          </a:p>
          <a:p>
            <a:pPr indent="0" lvl="0" marL="914400" rtl="0" algn="l">
              <a:lnSpc>
                <a:spcPct val="115000"/>
              </a:lnSpc>
              <a:spcBef>
                <a:spcPts val="1200"/>
              </a:spcBef>
              <a:spcAft>
                <a:spcPts val="0"/>
              </a:spcAft>
              <a:buNone/>
            </a:pPr>
            <a:r>
              <a:t/>
            </a:r>
            <a:endParaRPr b="1" sz="1900">
              <a:solidFill>
                <a:schemeClr val="dk1"/>
              </a:solidFill>
            </a:endParaRPr>
          </a:p>
          <a:p>
            <a:pPr indent="0" lvl="0" marL="914400" rtl="0" algn="l">
              <a:lnSpc>
                <a:spcPct val="115000"/>
              </a:lnSpc>
              <a:spcBef>
                <a:spcPts val="1200"/>
              </a:spcBef>
              <a:spcAft>
                <a:spcPts val="0"/>
              </a:spcAft>
              <a:buNone/>
            </a:pPr>
            <a:r>
              <a:t/>
            </a:r>
            <a:endParaRPr b="1" sz="1500">
              <a:solidFill>
                <a:schemeClr val="dk1"/>
              </a:solidFill>
            </a:endParaRPr>
          </a:p>
          <a:p>
            <a:pPr indent="0" lvl="0" marL="0" rtl="0" algn="l">
              <a:lnSpc>
                <a:spcPct val="115000"/>
              </a:lnSpc>
              <a:spcBef>
                <a:spcPts val="1200"/>
              </a:spcBef>
              <a:spcAft>
                <a:spcPts val="0"/>
              </a:spcAft>
              <a:buNone/>
            </a:pPr>
            <a:r>
              <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l">
              <a:spcBef>
                <a:spcPts val="1200"/>
              </a:spcBef>
              <a:spcAft>
                <a:spcPts val="0"/>
              </a:spcAft>
              <a:buNone/>
            </a:pPr>
            <a:r>
              <a:t/>
            </a:r>
            <a:endParaRPr b="1" sz="1300">
              <a:solidFill>
                <a:schemeClr val="dk1"/>
              </a:solidFill>
            </a:endParaRPr>
          </a:p>
        </p:txBody>
      </p:sp>
      <p:pic>
        <p:nvPicPr>
          <p:cNvPr id="312" name="Google Shape;312;g369d4573da3_1_180"/>
          <p:cNvPicPr preferRelativeResize="0"/>
          <p:nvPr/>
        </p:nvPicPr>
        <p:blipFill>
          <a:blip r:embed="rId4">
            <a:alphaModFix/>
          </a:blip>
          <a:stretch>
            <a:fillRect/>
          </a:stretch>
        </p:blipFill>
        <p:spPr>
          <a:xfrm>
            <a:off x="1228575" y="5276125"/>
            <a:ext cx="10391774" cy="1082475"/>
          </a:xfrm>
          <a:prstGeom prst="rect">
            <a:avLst/>
          </a:prstGeom>
          <a:noFill/>
          <a:ln>
            <a:noFill/>
          </a:ln>
        </p:spPr>
      </p:pic>
      <p:pic>
        <p:nvPicPr>
          <p:cNvPr descr="EscuelaIT Duoc UC - Escuela de Informática y Telecomunicaciones Duoc UC - Duoc  UC | LinkedIn" id="313" name="Google Shape;313;g369d4573da3_1_180"/>
          <p:cNvPicPr preferRelativeResize="0"/>
          <p:nvPr/>
        </p:nvPicPr>
        <p:blipFill rotWithShape="1">
          <a:blip r:embed="rId5">
            <a:alphaModFix/>
          </a:blip>
          <a:srcRect b="0" l="0" r="0" t="0"/>
          <a:stretch/>
        </p:blipFill>
        <p:spPr>
          <a:xfrm>
            <a:off x="8772152" y="207550"/>
            <a:ext cx="3141406" cy="785352"/>
          </a:xfrm>
          <a:prstGeom prst="rect">
            <a:avLst/>
          </a:prstGeom>
          <a:noFill/>
          <a:ln>
            <a:noFill/>
          </a:ln>
        </p:spPr>
      </p:pic>
      <p:sp>
        <p:nvSpPr>
          <p:cNvPr id="314" name="Google Shape;314;g369d4573da3_1_18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descr="EscuelaIT Duoc UC - Escuela de Informática y Telecomunicaciones Duoc UC - Duoc  UC | LinkedIn" id="319" name="Google Shape;319;p1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20" name="Google Shape;320;p12"/>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
        <p:nvSpPr>
          <p:cNvPr id="321" name="Google Shape;321;p12"/>
          <p:cNvSpPr txBox="1"/>
          <p:nvPr/>
        </p:nvSpPr>
        <p:spPr>
          <a:xfrm>
            <a:off x="0" y="1106830"/>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Tecnologías utilizadas</a:t>
            </a:r>
            <a:endParaRPr/>
          </a:p>
        </p:txBody>
      </p:sp>
      <p:cxnSp>
        <p:nvCxnSpPr>
          <p:cNvPr id="322" name="Google Shape;322;p12"/>
          <p:cNvCxnSpPr/>
          <p:nvPr/>
        </p:nvCxnSpPr>
        <p:spPr>
          <a:xfrm>
            <a:off x="0" y="758027"/>
            <a:ext cx="4085617" cy="0"/>
          </a:xfrm>
          <a:prstGeom prst="straightConnector1">
            <a:avLst/>
          </a:prstGeom>
          <a:noFill/>
          <a:ln cap="flat" cmpd="sng" w="15875">
            <a:solidFill>
              <a:srgbClr val="F5F7FC"/>
            </a:solidFill>
            <a:prstDash val="solid"/>
            <a:miter lim="800000"/>
            <a:headEnd len="sm" w="sm" type="none"/>
            <a:tailEnd len="sm" w="sm" type="none"/>
          </a:ln>
        </p:spPr>
      </p:cxnSp>
      <p:pic>
        <p:nvPicPr>
          <p:cNvPr id="323" name="Google Shape;323;p12"/>
          <p:cNvPicPr preferRelativeResize="0"/>
          <p:nvPr/>
        </p:nvPicPr>
        <p:blipFill>
          <a:blip r:embed="rId4">
            <a:alphaModFix/>
          </a:blip>
          <a:stretch>
            <a:fillRect/>
          </a:stretch>
        </p:blipFill>
        <p:spPr>
          <a:xfrm>
            <a:off x="323663" y="1227725"/>
            <a:ext cx="1676400" cy="1676400"/>
          </a:xfrm>
          <a:prstGeom prst="rect">
            <a:avLst/>
          </a:prstGeom>
          <a:noFill/>
          <a:ln>
            <a:noFill/>
          </a:ln>
        </p:spPr>
      </p:pic>
      <p:pic>
        <p:nvPicPr>
          <p:cNvPr id="324" name="Google Shape;324;p12"/>
          <p:cNvPicPr preferRelativeResize="0"/>
          <p:nvPr/>
        </p:nvPicPr>
        <p:blipFill>
          <a:blip r:embed="rId5">
            <a:alphaModFix/>
          </a:blip>
          <a:stretch>
            <a:fillRect/>
          </a:stretch>
        </p:blipFill>
        <p:spPr>
          <a:xfrm>
            <a:off x="9862488" y="1483471"/>
            <a:ext cx="1164925" cy="1164925"/>
          </a:xfrm>
          <a:prstGeom prst="rect">
            <a:avLst/>
          </a:prstGeom>
          <a:noFill/>
          <a:ln>
            <a:noFill/>
          </a:ln>
        </p:spPr>
      </p:pic>
      <p:pic>
        <p:nvPicPr>
          <p:cNvPr id="325" name="Google Shape;325;p12"/>
          <p:cNvPicPr preferRelativeResize="0"/>
          <p:nvPr/>
        </p:nvPicPr>
        <p:blipFill>
          <a:blip r:embed="rId6">
            <a:alphaModFix/>
          </a:blip>
          <a:stretch>
            <a:fillRect/>
          </a:stretch>
        </p:blipFill>
        <p:spPr>
          <a:xfrm>
            <a:off x="5321850" y="1753337"/>
            <a:ext cx="2218950" cy="1365510"/>
          </a:xfrm>
          <a:prstGeom prst="rect">
            <a:avLst/>
          </a:prstGeom>
          <a:noFill/>
          <a:ln>
            <a:noFill/>
          </a:ln>
        </p:spPr>
      </p:pic>
      <p:pic>
        <p:nvPicPr>
          <p:cNvPr id="326" name="Google Shape;326;p12"/>
          <p:cNvPicPr preferRelativeResize="0"/>
          <p:nvPr/>
        </p:nvPicPr>
        <p:blipFill>
          <a:blip r:embed="rId7">
            <a:alphaModFix/>
          </a:blip>
          <a:stretch>
            <a:fillRect/>
          </a:stretch>
        </p:blipFill>
        <p:spPr>
          <a:xfrm>
            <a:off x="9969649" y="4629125"/>
            <a:ext cx="1507052" cy="1507077"/>
          </a:xfrm>
          <a:prstGeom prst="rect">
            <a:avLst/>
          </a:prstGeom>
          <a:noFill/>
          <a:ln>
            <a:noFill/>
          </a:ln>
        </p:spPr>
      </p:pic>
      <p:pic>
        <p:nvPicPr>
          <p:cNvPr id="327" name="Google Shape;327;p12"/>
          <p:cNvPicPr preferRelativeResize="0"/>
          <p:nvPr/>
        </p:nvPicPr>
        <p:blipFill>
          <a:blip r:embed="rId8">
            <a:alphaModFix/>
          </a:blip>
          <a:stretch>
            <a:fillRect/>
          </a:stretch>
        </p:blipFill>
        <p:spPr>
          <a:xfrm>
            <a:off x="413526" y="3568577"/>
            <a:ext cx="1802726" cy="1448863"/>
          </a:xfrm>
          <a:prstGeom prst="rect">
            <a:avLst/>
          </a:prstGeom>
          <a:noFill/>
          <a:ln>
            <a:noFill/>
          </a:ln>
        </p:spPr>
      </p:pic>
      <p:pic>
        <p:nvPicPr>
          <p:cNvPr id="328" name="Google Shape;328;p12"/>
          <p:cNvPicPr preferRelativeResize="0"/>
          <p:nvPr/>
        </p:nvPicPr>
        <p:blipFill>
          <a:blip r:embed="rId9">
            <a:alphaModFix/>
          </a:blip>
          <a:stretch>
            <a:fillRect/>
          </a:stretch>
        </p:blipFill>
        <p:spPr>
          <a:xfrm>
            <a:off x="2556101" y="4767050"/>
            <a:ext cx="1676399" cy="1676401"/>
          </a:xfrm>
          <a:prstGeom prst="rect">
            <a:avLst/>
          </a:prstGeom>
          <a:noFill/>
          <a:ln>
            <a:noFill/>
          </a:ln>
        </p:spPr>
      </p:pic>
      <p:pic>
        <p:nvPicPr>
          <p:cNvPr id="329" name="Google Shape;329;p12"/>
          <p:cNvPicPr preferRelativeResize="0"/>
          <p:nvPr/>
        </p:nvPicPr>
        <p:blipFill>
          <a:blip r:embed="rId10">
            <a:alphaModFix/>
          </a:blip>
          <a:stretch>
            <a:fillRect/>
          </a:stretch>
        </p:blipFill>
        <p:spPr>
          <a:xfrm>
            <a:off x="6989338" y="4767027"/>
            <a:ext cx="2980321" cy="1676425"/>
          </a:xfrm>
          <a:prstGeom prst="rect">
            <a:avLst/>
          </a:prstGeom>
          <a:noFill/>
          <a:ln>
            <a:noFill/>
          </a:ln>
        </p:spPr>
      </p:pic>
      <p:pic>
        <p:nvPicPr>
          <p:cNvPr id="330" name="Google Shape;330;p12"/>
          <p:cNvPicPr preferRelativeResize="0"/>
          <p:nvPr/>
        </p:nvPicPr>
        <p:blipFill>
          <a:blip r:embed="rId11">
            <a:alphaModFix/>
          </a:blip>
          <a:stretch>
            <a:fillRect/>
          </a:stretch>
        </p:blipFill>
        <p:spPr>
          <a:xfrm>
            <a:off x="2486538" y="2180062"/>
            <a:ext cx="2218941" cy="1164950"/>
          </a:xfrm>
          <a:prstGeom prst="rect">
            <a:avLst/>
          </a:prstGeom>
          <a:noFill/>
          <a:ln>
            <a:noFill/>
          </a:ln>
        </p:spPr>
      </p:pic>
      <p:pic>
        <p:nvPicPr>
          <p:cNvPr id="331" name="Google Shape;331;p12"/>
          <p:cNvPicPr preferRelativeResize="0"/>
          <p:nvPr/>
        </p:nvPicPr>
        <p:blipFill>
          <a:blip r:embed="rId12">
            <a:alphaModFix/>
          </a:blip>
          <a:stretch>
            <a:fillRect/>
          </a:stretch>
        </p:blipFill>
        <p:spPr>
          <a:xfrm>
            <a:off x="4857388" y="5017450"/>
            <a:ext cx="1507050" cy="1507050"/>
          </a:xfrm>
          <a:prstGeom prst="rect">
            <a:avLst/>
          </a:prstGeom>
          <a:noFill/>
          <a:ln>
            <a:noFill/>
          </a:ln>
        </p:spPr>
      </p:pic>
      <p:pic>
        <p:nvPicPr>
          <p:cNvPr id="332" name="Google Shape;332;p12"/>
          <p:cNvPicPr preferRelativeResize="0"/>
          <p:nvPr/>
        </p:nvPicPr>
        <p:blipFill>
          <a:blip r:embed="rId13">
            <a:alphaModFix/>
          </a:blip>
          <a:stretch>
            <a:fillRect/>
          </a:stretch>
        </p:blipFill>
        <p:spPr>
          <a:xfrm>
            <a:off x="8347200" y="2674075"/>
            <a:ext cx="3352800" cy="1676400"/>
          </a:xfrm>
          <a:prstGeom prst="rect">
            <a:avLst/>
          </a:prstGeom>
          <a:noFill/>
          <a:ln>
            <a:noFill/>
          </a:ln>
        </p:spPr>
      </p:pic>
      <p:pic>
        <p:nvPicPr>
          <p:cNvPr id="333" name="Google Shape;333;p12"/>
          <p:cNvPicPr preferRelativeResize="0"/>
          <p:nvPr/>
        </p:nvPicPr>
        <p:blipFill>
          <a:blip r:embed="rId14">
            <a:alphaModFix/>
          </a:blip>
          <a:stretch>
            <a:fillRect/>
          </a:stretch>
        </p:blipFill>
        <p:spPr>
          <a:xfrm>
            <a:off x="4764913" y="2562300"/>
            <a:ext cx="2980300" cy="2980300"/>
          </a:xfrm>
          <a:prstGeom prst="rect">
            <a:avLst/>
          </a:prstGeom>
          <a:noFill/>
          <a:ln>
            <a:noFill/>
          </a:ln>
        </p:spPr>
      </p:pic>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preencoded.png" id="339" name="Google Shape;339;g369e15e6d3c_0_66"/>
          <p:cNvPicPr preferRelativeResize="0"/>
          <p:nvPr/>
        </p:nvPicPr>
        <p:blipFill rotWithShape="1">
          <a:blip r:embed="rId3">
            <a:alphaModFix/>
          </a:blip>
          <a:srcRect b="0" l="0" r="0" t="0"/>
          <a:stretch/>
        </p:blipFill>
        <p:spPr>
          <a:xfrm>
            <a:off x="0" y="0"/>
            <a:ext cx="12192000" cy="7181850"/>
          </a:xfrm>
          <a:prstGeom prst="rect">
            <a:avLst/>
          </a:prstGeom>
          <a:noFill/>
          <a:ln>
            <a:noFill/>
          </a:ln>
        </p:spPr>
      </p:pic>
      <p:sp>
        <p:nvSpPr>
          <p:cNvPr id="340" name="Google Shape;340;g369e15e6d3c_0_66"/>
          <p:cNvSpPr/>
          <p:nvPr/>
        </p:nvSpPr>
        <p:spPr>
          <a:xfrm>
            <a:off x="4859738" y="247467"/>
            <a:ext cx="3901500" cy="38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2700"/>
              <a:buFont typeface="Arial"/>
              <a:buNone/>
            </a:pPr>
            <a:r>
              <a:rPr b="1" i="0" lang="es-CL" sz="2700" u="none" cap="none" strike="noStrike">
                <a:solidFill>
                  <a:schemeClr val="dk1"/>
                </a:solidFill>
                <a:latin typeface="Arial"/>
                <a:ea typeface="Arial"/>
                <a:cs typeface="Arial"/>
                <a:sym typeface="Arial"/>
              </a:rPr>
              <a:t>El Modelo Transformer</a:t>
            </a:r>
            <a:endParaRPr b="0" i="0" sz="2700" u="none" cap="none" strike="noStrike">
              <a:solidFill>
                <a:schemeClr val="dk1"/>
              </a:solidFill>
              <a:latin typeface="Calibri"/>
              <a:ea typeface="Calibri"/>
              <a:cs typeface="Calibri"/>
              <a:sym typeface="Calibri"/>
            </a:endParaRPr>
          </a:p>
        </p:txBody>
      </p:sp>
      <p:sp>
        <p:nvSpPr>
          <p:cNvPr id="341" name="Google Shape;341;g369e15e6d3c_0_66"/>
          <p:cNvSpPr/>
          <p:nvPr/>
        </p:nvSpPr>
        <p:spPr>
          <a:xfrm>
            <a:off x="457200" y="1704975"/>
            <a:ext cx="1130400" cy="952500"/>
          </a:xfrm>
          <a:prstGeom prst="rect">
            <a:avLst/>
          </a:prstGeom>
          <a:solidFill>
            <a:srgbClr val="F0F4F8"/>
          </a:solidFill>
          <a:ln cap="flat" cmpd="sng" w="9525">
            <a:solidFill>
              <a:srgbClr val="9BB8D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2" name="Google Shape;342;g369e15e6d3c_0_66"/>
          <p:cNvSpPr/>
          <p:nvPr/>
        </p:nvSpPr>
        <p:spPr>
          <a:xfrm>
            <a:off x="785403" y="2047875"/>
            <a:ext cx="5607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500"/>
              <a:buFont typeface="Arial"/>
              <a:buNone/>
            </a:pPr>
            <a:r>
              <a:rPr b="1" i="0" lang="es-CL" sz="1500" u="none" cap="none" strike="noStrike">
                <a:solidFill>
                  <a:srgbClr val="374151"/>
                </a:solidFill>
                <a:latin typeface="Arial"/>
                <a:ea typeface="Arial"/>
                <a:cs typeface="Arial"/>
                <a:sym typeface="Arial"/>
              </a:rPr>
              <a:t>Input</a:t>
            </a:r>
            <a:endParaRPr b="0" i="0" sz="1500" u="none" cap="none" strike="noStrike">
              <a:solidFill>
                <a:schemeClr val="dk1"/>
              </a:solidFill>
              <a:latin typeface="Calibri"/>
              <a:ea typeface="Calibri"/>
              <a:cs typeface="Calibri"/>
              <a:sym typeface="Calibri"/>
            </a:endParaRPr>
          </a:p>
        </p:txBody>
      </p:sp>
      <p:pic>
        <p:nvPicPr>
          <p:cNvPr descr="preencoded.png" id="343" name="Google Shape;343;g369e15e6d3c_0_66"/>
          <p:cNvPicPr preferRelativeResize="0"/>
          <p:nvPr/>
        </p:nvPicPr>
        <p:blipFill rotWithShape="1">
          <a:blip r:embed="rId4">
            <a:alphaModFix/>
          </a:blip>
          <a:srcRect b="0" l="0" r="0" t="0"/>
          <a:stretch/>
        </p:blipFill>
        <p:spPr>
          <a:xfrm>
            <a:off x="1807667" y="2066925"/>
            <a:ext cx="200026" cy="228600"/>
          </a:xfrm>
          <a:prstGeom prst="rect">
            <a:avLst/>
          </a:prstGeom>
          <a:noFill/>
          <a:ln>
            <a:noFill/>
          </a:ln>
        </p:spPr>
      </p:pic>
      <p:sp>
        <p:nvSpPr>
          <p:cNvPr id="344" name="Google Shape;344;g369e15e6d3c_0_66"/>
          <p:cNvSpPr/>
          <p:nvPr/>
        </p:nvSpPr>
        <p:spPr>
          <a:xfrm>
            <a:off x="2236292" y="1552575"/>
            <a:ext cx="1340100" cy="1257300"/>
          </a:xfrm>
          <a:prstGeom prst="rect">
            <a:avLst/>
          </a:prstGeom>
          <a:solidFill>
            <a:srgbClr val="E0F2F7"/>
          </a:solidFill>
          <a:ln cap="flat" cmpd="sng" w="9525">
            <a:solidFill>
              <a:srgbClr val="A7D9E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5" name="Google Shape;345;g369e15e6d3c_0_66"/>
          <p:cNvSpPr/>
          <p:nvPr/>
        </p:nvSpPr>
        <p:spPr>
          <a:xfrm>
            <a:off x="2390664" y="1724025"/>
            <a:ext cx="11223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400"/>
              <a:buFont typeface="Arial"/>
              <a:buNone/>
            </a:pPr>
            <a:r>
              <a:rPr b="1" i="0" lang="es-CL" sz="1400" u="none" cap="none" strike="noStrike">
                <a:solidFill>
                  <a:srgbClr val="1D4ED8"/>
                </a:solidFill>
                <a:latin typeface="Arial"/>
                <a:ea typeface="Arial"/>
                <a:cs typeface="Arial"/>
                <a:sym typeface="Arial"/>
              </a:rPr>
              <a:t>Embedding +</a:t>
            </a:r>
            <a:endParaRPr b="0" i="0" sz="1400" u="none" cap="none" strike="noStrike">
              <a:solidFill>
                <a:schemeClr val="dk1"/>
              </a:solidFill>
              <a:latin typeface="Calibri"/>
              <a:ea typeface="Calibri"/>
              <a:cs typeface="Calibri"/>
              <a:sym typeface="Calibri"/>
            </a:endParaRPr>
          </a:p>
        </p:txBody>
      </p:sp>
      <p:sp>
        <p:nvSpPr>
          <p:cNvPr id="346" name="Google Shape;346;g369e15e6d3c_0_66"/>
          <p:cNvSpPr/>
          <p:nvPr/>
        </p:nvSpPr>
        <p:spPr>
          <a:xfrm>
            <a:off x="2390664" y="2257425"/>
            <a:ext cx="11223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Codificación Posicional</a:t>
            </a:r>
            <a:endParaRPr b="0" i="0" sz="1100" u="none" cap="none" strike="noStrike">
              <a:solidFill>
                <a:schemeClr val="dk1"/>
              </a:solidFill>
              <a:latin typeface="Calibri"/>
              <a:ea typeface="Calibri"/>
              <a:cs typeface="Calibri"/>
              <a:sym typeface="Calibri"/>
            </a:endParaRPr>
          </a:p>
        </p:txBody>
      </p:sp>
      <p:pic>
        <p:nvPicPr>
          <p:cNvPr descr="preencoded.png" id="347" name="Google Shape;347;g369e15e6d3c_0_66"/>
          <p:cNvPicPr preferRelativeResize="0"/>
          <p:nvPr/>
        </p:nvPicPr>
        <p:blipFill rotWithShape="1">
          <a:blip r:embed="rId4">
            <a:alphaModFix/>
          </a:blip>
          <a:srcRect b="0" l="0" r="0" t="0"/>
          <a:stretch/>
        </p:blipFill>
        <p:spPr>
          <a:xfrm>
            <a:off x="3798912" y="2066925"/>
            <a:ext cx="200026" cy="228600"/>
          </a:xfrm>
          <a:prstGeom prst="rect">
            <a:avLst/>
          </a:prstGeom>
          <a:noFill/>
          <a:ln>
            <a:noFill/>
          </a:ln>
        </p:spPr>
      </p:pic>
      <p:sp>
        <p:nvSpPr>
          <p:cNvPr id="348" name="Google Shape;348;g369e15e6d3c_0_66"/>
          <p:cNvSpPr/>
          <p:nvPr/>
        </p:nvSpPr>
        <p:spPr>
          <a:xfrm>
            <a:off x="4227537" y="1076325"/>
            <a:ext cx="1771500" cy="2210100"/>
          </a:xfrm>
          <a:prstGeom prst="rect">
            <a:avLst/>
          </a:prstGeom>
          <a:solidFill>
            <a:srgbClr val="DBEAFE"/>
          </a:solidFill>
          <a:ln cap="flat" cmpd="sng" w="9525">
            <a:solidFill>
              <a:srgbClr val="60A5F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9" name="Google Shape;349;g369e15e6d3c_0_66"/>
          <p:cNvSpPr/>
          <p:nvPr/>
        </p:nvSpPr>
        <p:spPr>
          <a:xfrm>
            <a:off x="4729385" y="1247775"/>
            <a:ext cx="8577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500"/>
              <a:buFont typeface="Arial"/>
              <a:buNone/>
            </a:pPr>
            <a:r>
              <a:rPr b="1" i="0" lang="es-CL" sz="1500" u="none" cap="none" strike="noStrike">
                <a:solidFill>
                  <a:srgbClr val="1D4ED8"/>
                </a:solidFill>
                <a:latin typeface="Arial"/>
                <a:ea typeface="Arial"/>
                <a:cs typeface="Arial"/>
                <a:sym typeface="Arial"/>
              </a:rPr>
              <a:t>Encoder</a:t>
            </a:r>
            <a:endParaRPr b="0" i="0" sz="1500" u="none" cap="none" strike="noStrike">
              <a:solidFill>
                <a:schemeClr val="dk1"/>
              </a:solidFill>
              <a:latin typeface="Calibri"/>
              <a:ea typeface="Calibri"/>
              <a:cs typeface="Calibri"/>
              <a:sym typeface="Calibri"/>
            </a:endParaRPr>
          </a:p>
        </p:txBody>
      </p:sp>
      <p:sp>
        <p:nvSpPr>
          <p:cNvPr id="350" name="Google Shape;350;g369e15e6d3c_0_66"/>
          <p:cNvSpPr/>
          <p:nvPr/>
        </p:nvSpPr>
        <p:spPr>
          <a:xfrm>
            <a:off x="4728828" y="1590675"/>
            <a:ext cx="8583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(Codificador)</a:t>
            </a:r>
            <a:endParaRPr b="0" i="0" sz="1100" u="none" cap="none" strike="noStrike">
              <a:solidFill>
                <a:schemeClr val="dk1"/>
              </a:solidFill>
              <a:latin typeface="Calibri"/>
              <a:ea typeface="Calibri"/>
              <a:cs typeface="Calibri"/>
              <a:sym typeface="Calibri"/>
            </a:endParaRPr>
          </a:p>
        </p:txBody>
      </p:sp>
      <p:sp>
        <p:nvSpPr>
          <p:cNvPr id="351" name="Google Shape;351;g369e15e6d3c_0_66"/>
          <p:cNvSpPr/>
          <p:nvPr/>
        </p:nvSpPr>
        <p:spPr>
          <a:xfrm>
            <a:off x="4396123" y="1971675"/>
            <a:ext cx="1428900" cy="6288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2" name="Google Shape;352;g369e15e6d3c_0_66"/>
          <p:cNvSpPr/>
          <p:nvPr/>
        </p:nvSpPr>
        <p:spPr>
          <a:xfrm>
            <a:off x="4396123" y="1971675"/>
            <a:ext cx="1524000" cy="628800"/>
          </a:xfrm>
          <a:prstGeom prst="rect">
            <a:avLst/>
          </a:prstGeom>
          <a:noFill/>
          <a:ln>
            <a:noFill/>
          </a:ln>
        </p:spPr>
        <p:txBody>
          <a:bodyPr anchorCtr="0" anchor="ctr" bIns="90725" lIns="181325" spcFirstLastPara="1" rIns="181325" wrap="square" tIns="90725">
            <a:noAutofit/>
          </a:bodyPr>
          <a:lstStyle/>
          <a:p>
            <a:pPr indent="0" lvl="0" marL="0" marR="0" rtl="0" algn="ctr">
              <a:spcBef>
                <a:spcPts val="0"/>
              </a:spcBef>
              <a:spcAft>
                <a:spcPts val="0"/>
              </a:spcAft>
              <a:buClr>
                <a:srgbClr val="000000"/>
              </a:buClr>
              <a:buSzPts val="1200"/>
              <a:buFont typeface="Arial"/>
              <a:buNone/>
            </a:pPr>
            <a:r>
              <a:rPr b="0" i="0" lang="es-CL" sz="1200" u="none" cap="none" strike="noStrike">
                <a:solidFill>
                  <a:srgbClr val="000000"/>
                </a:solidFill>
                <a:latin typeface="Arial"/>
                <a:ea typeface="Arial"/>
                <a:cs typeface="Arial"/>
                <a:sym typeface="Arial"/>
              </a:rPr>
              <a:t>Self-Attention (Multi-Cabezal)</a:t>
            </a:r>
            <a:endParaRPr b="0" i="0" sz="1200" u="none" cap="none" strike="noStrike">
              <a:solidFill>
                <a:schemeClr val="dk1"/>
              </a:solidFill>
              <a:latin typeface="Calibri"/>
              <a:ea typeface="Calibri"/>
              <a:cs typeface="Calibri"/>
              <a:sym typeface="Calibri"/>
            </a:endParaRPr>
          </a:p>
        </p:txBody>
      </p:sp>
      <p:sp>
        <p:nvSpPr>
          <p:cNvPr id="353" name="Google Shape;353;g369e15e6d3c_0_66"/>
          <p:cNvSpPr/>
          <p:nvPr/>
        </p:nvSpPr>
        <p:spPr>
          <a:xfrm>
            <a:off x="4396123" y="2667000"/>
            <a:ext cx="1428900" cy="3999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4" name="Google Shape;354;g369e15e6d3c_0_66"/>
          <p:cNvSpPr/>
          <p:nvPr/>
        </p:nvSpPr>
        <p:spPr>
          <a:xfrm>
            <a:off x="4396123" y="2667000"/>
            <a:ext cx="1524000" cy="399900"/>
          </a:xfrm>
          <a:prstGeom prst="rect">
            <a:avLst/>
          </a:prstGeom>
          <a:noFill/>
          <a:ln>
            <a:noFill/>
          </a:ln>
        </p:spPr>
        <p:txBody>
          <a:bodyPr anchorCtr="0" anchor="ctr" bIns="90725" lIns="181325" spcFirstLastPara="1" rIns="181325" wrap="square" tIns="90725">
            <a:noAutofit/>
          </a:bodyPr>
          <a:lstStyle/>
          <a:p>
            <a:pPr indent="0" lvl="0" marL="0" marR="0" rtl="0" algn="ctr">
              <a:spcBef>
                <a:spcPts val="0"/>
              </a:spcBef>
              <a:spcAft>
                <a:spcPts val="0"/>
              </a:spcAft>
              <a:buClr>
                <a:srgbClr val="000000"/>
              </a:buClr>
              <a:buSzPts val="1200"/>
              <a:buFont typeface="Arial"/>
              <a:buNone/>
            </a:pPr>
            <a:r>
              <a:rPr b="0" i="0" lang="es-CL" sz="1200" u="none" cap="none" strike="noStrike">
                <a:solidFill>
                  <a:srgbClr val="000000"/>
                </a:solidFill>
                <a:latin typeface="Arial"/>
                <a:ea typeface="Arial"/>
                <a:cs typeface="Arial"/>
                <a:sym typeface="Arial"/>
              </a:rPr>
              <a:t>Feed Forward</a:t>
            </a:r>
            <a:endParaRPr b="0" i="0" sz="1200" u="none" cap="none" strike="noStrike">
              <a:solidFill>
                <a:schemeClr val="dk1"/>
              </a:solidFill>
              <a:latin typeface="Calibri"/>
              <a:ea typeface="Calibri"/>
              <a:cs typeface="Calibri"/>
              <a:sym typeface="Calibri"/>
            </a:endParaRPr>
          </a:p>
        </p:txBody>
      </p:sp>
      <p:sp>
        <p:nvSpPr>
          <p:cNvPr id="355" name="Google Shape;355;g369e15e6d3c_0_66"/>
          <p:cNvSpPr/>
          <p:nvPr/>
        </p:nvSpPr>
        <p:spPr>
          <a:xfrm>
            <a:off x="6205872" y="1666875"/>
            <a:ext cx="1615500" cy="53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s-CL" sz="1400" u="none" cap="none" strike="noStrike">
                <a:solidFill>
                  <a:srgbClr val="000000"/>
                </a:solidFill>
                <a:latin typeface="Arial"/>
                <a:ea typeface="Arial"/>
                <a:cs typeface="Arial"/>
                <a:sym typeface="Arial"/>
              </a:rPr>
              <a:t>Representación Contextual</a:t>
            </a:r>
            <a:endParaRPr b="0" i="0" sz="1400" u="none" cap="none" strike="noStrike">
              <a:solidFill>
                <a:schemeClr val="dk1"/>
              </a:solidFill>
              <a:latin typeface="Calibri"/>
              <a:ea typeface="Calibri"/>
              <a:cs typeface="Calibri"/>
              <a:sym typeface="Calibri"/>
            </a:endParaRPr>
          </a:p>
        </p:txBody>
      </p:sp>
      <p:pic>
        <p:nvPicPr>
          <p:cNvPr descr="preencoded.png" id="356" name="Google Shape;356;g369e15e6d3c_0_66"/>
          <p:cNvPicPr preferRelativeResize="0"/>
          <p:nvPr/>
        </p:nvPicPr>
        <p:blipFill rotWithShape="1">
          <a:blip r:embed="rId5">
            <a:alphaModFix/>
          </a:blip>
          <a:srcRect b="0" l="0" r="0" t="0"/>
          <a:stretch/>
        </p:blipFill>
        <p:spPr>
          <a:xfrm>
            <a:off x="6858856" y="2200275"/>
            <a:ext cx="214312" cy="190500"/>
          </a:xfrm>
          <a:prstGeom prst="rect">
            <a:avLst/>
          </a:prstGeom>
          <a:noFill/>
          <a:ln>
            <a:noFill/>
          </a:ln>
        </p:spPr>
      </p:pic>
      <p:pic>
        <p:nvPicPr>
          <p:cNvPr descr="preencoded.png" id="357" name="Google Shape;357;g369e15e6d3c_0_66"/>
          <p:cNvPicPr preferRelativeResize="0"/>
          <p:nvPr/>
        </p:nvPicPr>
        <p:blipFill rotWithShape="1">
          <a:blip r:embed="rId4">
            <a:alphaModFix/>
          </a:blip>
          <a:srcRect b="0" l="0" r="0" t="0"/>
          <a:stretch/>
        </p:blipFill>
        <p:spPr>
          <a:xfrm>
            <a:off x="6866000" y="2466975"/>
            <a:ext cx="200026" cy="228600"/>
          </a:xfrm>
          <a:prstGeom prst="rect">
            <a:avLst/>
          </a:prstGeom>
          <a:noFill/>
          <a:ln>
            <a:noFill/>
          </a:ln>
        </p:spPr>
      </p:pic>
      <p:sp>
        <p:nvSpPr>
          <p:cNvPr id="358" name="Google Shape;358;g369e15e6d3c_0_66"/>
          <p:cNvSpPr/>
          <p:nvPr/>
        </p:nvSpPr>
        <p:spPr>
          <a:xfrm>
            <a:off x="7954789" y="838200"/>
            <a:ext cx="1771500" cy="2685900"/>
          </a:xfrm>
          <a:prstGeom prst="rect">
            <a:avLst/>
          </a:prstGeom>
          <a:solidFill>
            <a:srgbClr val="EDE9FE"/>
          </a:solidFill>
          <a:ln cap="flat" cmpd="sng" w="9525">
            <a:solidFill>
              <a:srgbClr val="A78BF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g369e15e6d3c_0_66"/>
          <p:cNvSpPr/>
          <p:nvPr/>
        </p:nvSpPr>
        <p:spPr>
          <a:xfrm>
            <a:off x="8469772" y="990600"/>
            <a:ext cx="8577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500"/>
              <a:buFont typeface="Arial"/>
              <a:buNone/>
            </a:pPr>
            <a:r>
              <a:rPr b="1" i="0" lang="es-CL" sz="1500" u="none" cap="none" strike="noStrike">
                <a:solidFill>
                  <a:srgbClr val="6D28D9"/>
                </a:solidFill>
                <a:latin typeface="Arial"/>
                <a:ea typeface="Arial"/>
                <a:cs typeface="Arial"/>
                <a:sym typeface="Arial"/>
              </a:rPr>
              <a:t>Decoder</a:t>
            </a:r>
            <a:endParaRPr b="0" i="0" sz="1500" u="none" cap="none" strike="noStrike">
              <a:solidFill>
                <a:schemeClr val="dk1"/>
              </a:solidFill>
              <a:latin typeface="Calibri"/>
              <a:ea typeface="Calibri"/>
              <a:cs typeface="Calibri"/>
              <a:sym typeface="Calibri"/>
            </a:endParaRPr>
          </a:p>
        </p:txBody>
      </p:sp>
      <p:sp>
        <p:nvSpPr>
          <p:cNvPr id="360" name="Google Shape;360;g369e15e6d3c_0_66"/>
          <p:cNvSpPr/>
          <p:nvPr/>
        </p:nvSpPr>
        <p:spPr>
          <a:xfrm>
            <a:off x="8398817" y="1333500"/>
            <a:ext cx="9996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100"/>
              <a:buFont typeface="Arial"/>
              <a:buNone/>
            </a:pPr>
            <a:r>
              <a:rPr b="0" i="0" lang="es-CL" sz="1100" u="none" cap="none" strike="noStrike">
                <a:solidFill>
                  <a:srgbClr val="7C3AED"/>
                </a:solidFill>
                <a:latin typeface="Arial"/>
                <a:ea typeface="Arial"/>
                <a:cs typeface="Arial"/>
                <a:sym typeface="Arial"/>
              </a:rPr>
              <a:t>(Decodificador)</a:t>
            </a:r>
            <a:endParaRPr b="0" i="0" sz="1100" u="none" cap="none" strike="noStrike">
              <a:solidFill>
                <a:schemeClr val="dk1"/>
              </a:solidFill>
              <a:latin typeface="Calibri"/>
              <a:ea typeface="Calibri"/>
              <a:cs typeface="Calibri"/>
              <a:sym typeface="Calibri"/>
            </a:endParaRPr>
          </a:p>
        </p:txBody>
      </p:sp>
      <p:sp>
        <p:nvSpPr>
          <p:cNvPr id="361" name="Google Shape;361;g369e15e6d3c_0_66"/>
          <p:cNvSpPr/>
          <p:nvPr/>
        </p:nvSpPr>
        <p:spPr>
          <a:xfrm>
            <a:off x="8136545" y="1714500"/>
            <a:ext cx="1428900" cy="6288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2" name="Google Shape;362;g369e15e6d3c_0_66"/>
          <p:cNvSpPr/>
          <p:nvPr/>
        </p:nvSpPr>
        <p:spPr>
          <a:xfrm>
            <a:off x="8136545" y="1714500"/>
            <a:ext cx="1524000" cy="628800"/>
          </a:xfrm>
          <a:prstGeom prst="rect">
            <a:avLst/>
          </a:prstGeom>
          <a:noFill/>
          <a:ln>
            <a:noFill/>
          </a:ln>
        </p:spPr>
        <p:txBody>
          <a:bodyPr anchorCtr="0" anchor="ctr" bIns="90725" lIns="181325" spcFirstLastPara="1" rIns="181325" wrap="square" tIns="90725">
            <a:noAutofit/>
          </a:bodyPr>
          <a:lstStyle/>
          <a:p>
            <a:pPr indent="0" lvl="0" marL="0" marR="0" rtl="0" algn="ctr">
              <a:spcBef>
                <a:spcPts val="0"/>
              </a:spcBef>
              <a:spcAft>
                <a:spcPts val="0"/>
              </a:spcAft>
              <a:buClr>
                <a:srgbClr val="000000"/>
              </a:buClr>
              <a:buSzPts val="1200"/>
              <a:buFont typeface="Arial"/>
              <a:buNone/>
            </a:pPr>
            <a:r>
              <a:rPr b="0" i="0" lang="es-CL" sz="1200" u="none" cap="none" strike="noStrike">
                <a:solidFill>
                  <a:srgbClr val="000000"/>
                </a:solidFill>
                <a:latin typeface="Arial"/>
                <a:ea typeface="Arial"/>
                <a:cs typeface="Arial"/>
                <a:sym typeface="Arial"/>
              </a:rPr>
              <a:t>Masked Self-Attention</a:t>
            </a:r>
            <a:endParaRPr b="0" i="0" sz="1200" u="none" cap="none" strike="noStrike">
              <a:solidFill>
                <a:schemeClr val="dk1"/>
              </a:solidFill>
              <a:latin typeface="Calibri"/>
              <a:ea typeface="Calibri"/>
              <a:cs typeface="Calibri"/>
              <a:sym typeface="Calibri"/>
            </a:endParaRPr>
          </a:p>
        </p:txBody>
      </p:sp>
      <p:sp>
        <p:nvSpPr>
          <p:cNvPr id="363" name="Google Shape;363;g369e15e6d3c_0_66"/>
          <p:cNvSpPr/>
          <p:nvPr/>
        </p:nvSpPr>
        <p:spPr>
          <a:xfrm>
            <a:off x="8136545" y="2400300"/>
            <a:ext cx="1428900" cy="3999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4" name="Google Shape;364;g369e15e6d3c_0_66"/>
          <p:cNvSpPr/>
          <p:nvPr/>
        </p:nvSpPr>
        <p:spPr>
          <a:xfrm>
            <a:off x="8136545" y="2400300"/>
            <a:ext cx="1524000" cy="399900"/>
          </a:xfrm>
          <a:prstGeom prst="rect">
            <a:avLst/>
          </a:prstGeom>
          <a:noFill/>
          <a:ln>
            <a:noFill/>
          </a:ln>
        </p:spPr>
        <p:txBody>
          <a:bodyPr anchorCtr="0" anchor="ctr" bIns="90725" lIns="181325" spcFirstLastPara="1" rIns="181325" wrap="square" tIns="90725">
            <a:noAutofit/>
          </a:bodyPr>
          <a:lstStyle/>
          <a:p>
            <a:pPr indent="0" lvl="0" marL="0" marR="0" rtl="0" algn="ctr">
              <a:spcBef>
                <a:spcPts val="0"/>
              </a:spcBef>
              <a:spcAft>
                <a:spcPts val="0"/>
              </a:spcAft>
              <a:buClr>
                <a:srgbClr val="000000"/>
              </a:buClr>
              <a:buSzPts val="1200"/>
              <a:buFont typeface="Arial"/>
              <a:buNone/>
            </a:pPr>
            <a:r>
              <a:rPr b="0" i="0" lang="es-CL" sz="1200" u="none" cap="none" strike="noStrike">
                <a:solidFill>
                  <a:srgbClr val="000000"/>
                </a:solidFill>
                <a:latin typeface="Arial"/>
                <a:ea typeface="Arial"/>
                <a:cs typeface="Arial"/>
                <a:sym typeface="Arial"/>
              </a:rPr>
              <a:t>Cross-Attention</a:t>
            </a:r>
            <a:endParaRPr b="0" i="0" sz="1200" u="none" cap="none" strike="noStrike">
              <a:solidFill>
                <a:schemeClr val="dk1"/>
              </a:solidFill>
              <a:latin typeface="Calibri"/>
              <a:ea typeface="Calibri"/>
              <a:cs typeface="Calibri"/>
              <a:sym typeface="Calibri"/>
            </a:endParaRPr>
          </a:p>
        </p:txBody>
      </p:sp>
      <p:sp>
        <p:nvSpPr>
          <p:cNvPr id="365" name="Google Shape;365;g369e15e6d3c_0_66"/>
          <p:cNvSpPr/>
          <p:nvPr/>
        </p:nvSpPr>
        <p:spPr>
          <a:xfrm>
            <a:off x="8136545" y="2857500"/>
            <a:ext cx="1428900" cy="3999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6" name="Google Shape;366;g369e15e6d3c_0_66"/>
          <p:cNvSpPr/>
          <p:nvPr/>
        </p:nvSpPr>
        <p:spPr>
          <a:xfrm>
            <a:off x="8136545" y="2857500"/>
            <a:ext cx="1524000" cy="399900"/>
          </a:xfrm>
          <a:prstGeom prst="rect">
            <a:avLst/>
          </a:prstGeom>
          <a:noFill/>
          <a:ln>
            <a:noFill/>
          </a:ln>
        </p:spPr>
        <p:txBody>
          <a:bodyPr anchorCtr="0" anchor="ctr" bIns="90725" lIns="181325" spcFirstLastPara="1" rIns="181325" wrap="square" tIns="90725">
            <a:noAutofit/>
          </a:bodyPr>
          <a:lstStyle/>
          <a:p>
            <a:pPr indent="0" lvl="0" marL="0" marR="0" rtl="0" algn="ctr">
              <a:spcBef>
                <a:spcPts val="0"/>
              </a:spcBef>
              <a:spcAft>
                <a:spcPts val="0"/>
              </a:spcAft>
              <a:buClr>
                <a:srgbClr val="000000"/>
              </a:buClr>
              <a:buSzPts val="1200"/>
              <a:buFont typeface="Arial"/>
              <a:buNone/>
            </a:pPr>
            <a:r>
              <a:rPr b="0" i="0" lang="es-CL" sz="1200" u="none" cap="none" strike="noStrike">
                <a:solidFill>
                  <a:srgbClr val="000000"/>
                </a:solidFill>
                <a:latin typeface="Arial"/>
                <a:ea typeface="Arial"/>
                <a:cs typeface="Arial"/>
                <a:sym typeface="Arial"/>
              </a:rPr>
              <a:t>Feed Forward</a:t>
            </a:r>
            <a:endParaRPr b="0" i="0" sz="1200" u="none" cap="none" strike="noStrike">
              <a:solidFill>
                <a:schemeClr val="dk1"/>
              </a:solidFill>
              <a:latin typeface="Calibri"/>
              <a:ea typeface="Calibri"/>
              <a:cs typeface="Calibri"/>
              <a:sym typeface="Calibri"/>
            </a:endParaRPr>
          </a:p>
        </p:txBody>
      </p:sp>
      <p:pic>
        <p:nvPicPr>
          <p:cNvPr descr="preencoded.png" id="367" name="Google Shape;367;g369e15e6d3c_0_66"/>
          <p:cNvPicPr preferRelativeResize="0"/>
          <p:nvPr/>
        </p:nvPicPr>
        <p:blipFill rotWithShape="1">
          <a:blip r:embed="rId6">
            <a:alphaModFix/>
          </a:blip>
          <a:srcRect b="0" l="0" r="0" t="0"/>
          <a:stretch/>
        </p:blipFill>
        <p:spPr>
          <a:xfrm>
            <a:off x="9946295" y="2019300"/>
            <a:ext cx="200026" cy="228600"/>
          </a:xfrm>
          <a:prstGeom prst="rect">
            <a:avLst/>
          </a:prstGeom>
          <a:noFill/>
          <a:ln>
            <a:noFill/>
          </a:ln>
        </p:spPr>
      </p:pic>
      <p:sp>
        <p:nvSpPr>
          <p:cNvPr id="368" name="Google Shape;368;g369e15e6d3c_0_66"/>
          <p:cNvSpPr/>
          <p:nvPr/>
        </p:nvSpPr>
        <p:spPr>
          <a:xfrm>
            <a:off x="10374920" y="1504951"/>
            <a:ext cx="1359900" cy="1257300"/>
          </a:xfrm>
          <a:prstGeom prst="rect">
            <a:avLst/>
          </a:prstGeom>
          <a:solidFill>
            <a:srgbClr val="F0F4F8"/>
          </a:solidFill>
          <a:ln cap="flat" cmpd="sng" w="9525">
            <a:solidFill>
              <a:srgbClr val="9BB8D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9" name="Google Shape;369;g369e15e6d3c_0_66"/>
          <p:cNvSpPr/>
          <p:nvPr/>
        </p:nvSpPr>
        <p:spPr>
          <a:xfrm>
            <a:off x="10534873" y="1676400"/>
            <a:ext cx="11427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1400"/>
              <a:buFont typeface="Arial"/>
              <a:buNone/>
            </a:pPr>
            <a:r>
              <a:rPr b="1" i="0" lang="es-CL" sz="1400" u="none" cap="none" strike="noStrike">
                <a:solidFill>
                  <a:srgbClr val="374151"/>
                </a:solidFill>
                <a:latin typeface="Arial"/>
                <a:ea typeface="Arial"/>
                <a:cs typeface="Arial"/>
                <a:sym typeface="Arial"/>
              </a:rPr>
              <a:t>Capa Lineal + Softmax</a:t>
            </a:r>
            <a:endParaRPr b="0" i="0" sz="1400" u="none" cap="none" strike="noStrike">
              <a:solidFill>
                <a:schemeClr val="dk1"/>
              </a:solidFill>
              <a:latin typeface="Calibri"/>
              <a:ea typeface="Calibri"/>
              <a:cs typeface="Calibri"/>
              <a:sym typeface="Calibri"/>
            </a:endParaRPr>
          </a:p>
        </p:txBody>
      </p:sp>
      <p:sp>
        <p:nvSpPr>
          <p:cNvPr id="370" name="Google Shape;370;g369e15e6d3c_0_66"/>
          <p:cNvSpPr/>
          <p:nvPr/>
        </p:nvSpPr>
        <p:spPr>
          <a:xfrm>
            <a:off x="10534873" y="2209800"/>
            <a:ext cx="11427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563"/>
              </a:buClr>
              <a:buSzPts val="1100"/>
              <a:buFont typeface="Arial"/>
              <a:buNone/>
            </a:pPr>
            <a:r>
              <a:rPr b="0" i="0" lang="es-CL" sz="1100" u="none" cap="none" strike="noStrike">
                <a:solidFill>
                  <a:srgbClr val="4B5563"/>
                </a:solidFill>
                <a:latin typeface="Arial"/>
                <a:ea typeface="Arial"/>
                <a:cs typeface="Arial"/>
                <a:sym typeface="Arial"/>
              </a:rPr>
              <a:t>(Predicción de Coordenadas)</a:t>
            </a:r>
            <a:endParaRPr b="0" i="0" sz="1100" u="none" cap="none" strike="noStrike">
              <a:solidFill>
                <a:schemeClr val="dk1"/>
              </a:solidFill>
              <a:latin typeface="Calibri"/>
              <a:ea typeface="Calibri"/>
              <a:cs typeface="Calibri"/>
              <a:sym typeface="Calibri"/>
            </a:endParaRPr>
          </a:p>
        </p:txBody>
      </p:sp>
      <p:sp>
        <p:nvSpPr>
          <p:cNvPr id="371" name="Google Shape;371;g369e15e6d3c_0_66"/>
          <p:cNvSpPr/>
          <p:nvPr/>
        </p:nvSpPr>
        <p:spPr>
          <a:xfrm>
            <a:off x="3020169" y="3733800"/>
            <a:ext cx="15057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s-CL" sz="1800" u="none" cap="none" strike="noStrike">
                <a:solidFill>
                  <a:srgbClr val="000000"/>
                </a:solidFill>
                <a:latin typeface="Arial"/>
                <a:ea typeface="Arial"/>
                <a:cs typeface="Arial"/>
                <a:sym typeface="Arial"/>
              </a:rPr>
              <a:t>Aplicaciones</a:t>
            </a:r>
            <a:endParaRPr b="0" i="0" sz="1800" u="none" cap="none" strike="noStrike">
              <a:solidFill>
                <a:schemeClr val="dk1"/>
              </a:solidFill>
              <a:latin typeface="Calibri"/>
              <a:ea typeface="Calibri"/>
              <a:cs typeface="Calibri"/>
              <a:sym typeface="Calibri"/>
            </a:endParaRPr>
          </a:p>
        </p:txBody>
      </p:sp>
      <p:pic>
        <p:nvPicPr>
          <p:cNvPr descr="preencoded.png" id="372" name="Google Shape;372;g369e15e6d3c_0_66"/>
          <p:cNvPicPr preferRelativeResize="0"/>
          <p:nvPr/>
        </p:nvPicPr>
        <p:blipFill rotWithShape="1">
          <a:blip r:embed="rId7">
            <a:alphaModFix/>
          </a:blip>
          <a:srcRect b="0" l="0" r="0" t="0"/>
          <a:stretch/>
        </p:blipFill>
        <p:spPr>
          <a:xfrm>
            <a:off x="3117875" y="4114800"/>
            <a:ext cx="357188" cy="285751"/>
          </a:xfrm>
          <a:prstGeom prst="rect">
            <a:avLst/>
          </a:prstGeom>
          <a:noFill/>
          <a:ln>
            <a:noFill/>
          </a:ln>
        </p:spPr>
      </p:pic>
      <p:sp>
        <p:nvSpPr>
          <p:cNvPr id="373" name="Google Shape;373;g369e15e6d3c_0_66"/>
          <p:cNvSpPr/>
          <p:nvPr/>
        </p:nvSpPr>
        <p:spPr>
          <a:xfrm>
            <a:off x="3058269" y="4438651"/>
            <a:ext cx="5715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900"/>
              <a:buFont typeface="Arial"/>
              <a:buNone/>
            </a:pPr>
            <a:r>
              <a:rPr lang="es-CL" sz="900"/>
              <a:t>Chat GPT</a:t>
            </a:r>
            <a:endParaRPr b="0" i="0" sz="900" u="none" cap="none" strike="noStrike">
              <a:solidFill>
                <a:schemeClr val="dk1"/>
              </a:solidFill>
              <a:latin typeface="Calibri"/>
              <a:ea typeface="Calibri"/>
              <a:cs typeface="Calibri"/>
              <a:sym typeface="Calibri"/>
            </a:endParaRPr>
          </a:p>
        </p:txBody>
      </p:sp>
      <p:pic>
        <p:nvPicPr>
          <p:cNvPr descr="preencoded.png" id="374" name="Google Shape;374;g369e15e6d3c_0_66"/>
          <p:cNvPicPr preferRelativeResize="0"/>
          <p:nvPr/>
        </p:nvPicPr>
        <p:blipFill rotWithShape="1">
          <a:blip r:embed="rId8">
            <a:alphaModFix/>
          </a:blip>
          <a:srcRect b="0" l="0" r="0" t="0"/>
          <a:stretch/>
        </p:blipFill>
        <p:spPr>
          <a:xfrm>
            <a:off x="3619388" y="4114800"/>
            <a:ext cx="285751" cy="285751"/>
          </a:xfrm>
          <a:prstGeom prst="rect">
            <a:avLst/>
          </a:prstGeom>
          <a:noFill/>
          <a:ln>
            <a:noFill/>
          </a:ln>
        </p:spPr>
      </p:pic>
      <p:sp>
        <p:nvSpPr>
          <p:cNvPr id="375" name="Google Shape;375;g369e15e6d3c_0_66"/>
          <p:cNvSpPr/>
          <p:nvPr/>
        </p:nvSpPr>
        <p:spPr>
          <a:xfrm>
            <a:off x="3610868" y="4438651"/>
            <a:ext cx="3981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900"/>
              <a:buFont typeface="Arial"/>
              <a:buNone/>
            </a:pPr>
            <a:r>
              <a:rPr b="0" i="0" lang="es-CL" sz="900" u="none" cap="none" strike="noStrike">
                <a:solidFill>
                  <a:srgbClr val="000000"/>
                </a:solidFill>
                <a:latin typeface="Arial"/>
                <a:ea typeface="Arial"/>
                <a:cs typeface="Arial"/>
                <a:sym typeface="Arial"/>
              </a:rPr>
              <a:t>BERT</a:t>
            </a:r>
            <a:endParaRPr b="0" i="0" sz="900" u="none" cap="none" strike="noStrike">
              <a:solidFill>
                <a:schemeClr val="dk1"/>
              </a:solidFill>
              <a:latin typeface="Calibri"/>
              <a:ea typeface="Calibri"/>
              <a:cs typeface="Calibri"/>
              <a:sym typeface="Calibri"/>
            </a:endParaRPr>
          </a:p>
        </p:txBody>
      </p:sp>
      <p:pic>
        <p:nvPicPr>
          <p:cNvPr descr="preencoded.png" id="376" name="Google Shape;376;g369e15e6d3c_0_66"/>
          <p:cNvPicPr preferRelativeResize="0"/>
          <p:nvPr/>
        </p:nvPicPr>
        <p:blipFill rotWithShape="1">
          <a:blip r:embed="rId9">
            <a:alphaModFix/>
          </a:blip>
          <a:srcRect b="0" l="0" r="0" t="0"/>
          <a:stretch/>
        </p:blipFill>
        <p:spPr>
          <a:xfrm>
            <a:off x="4091843" y="4114800"/>
            <a:ext cx="357188" cy="285751"/>
          </a:xfrm>
          <a:prstGeom prst="rect">
            <a:avLst/>
          </a:prstGeom>
          <a:noFill/>
          <a:ln>
            <a:noFill/>
          </a:ln>
        </p:spPr>
      </p:pic>
      <p:sp>
        <p:nvSpPr>
          <p:cNvPr id="377" name="Google Shape;377;g369e15e6d3c_0_66"/>
          <p:cNvSpPr/>
          <p:nvPr/>
        </p:nvSpPr>
        <p:spPr>
          <a:xfrm>
            <a:off x="3989859" y="4438651"/>
            <a:ext cx="6564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900"/>
              <a:buFont typeface="Arial"/>
              <a:buNone/>
            </a:pPr>
            <a:r>
              <a:rPr b="0" i="0" lang="es-CL" sz="900" u="none" cap="none" strike="noStrike">
                <a:solidFill>
                  <a:srgbClr val="000000"/>
                </a:solidFill>
                <a:latin typeface="Arial"/>
                <a:ea typeface="Arial"/>
                <a:cs typeface="Arial"/>
                <a:sym typeface="Arial"/>
              </a:rPr>
              <a:t>Traducción</a:t>
            </a:r>
            <a:endParaRPr b="0" i="0" sz="900" u="none" cap="none" strike="noStrike">
              <a:solidFill>
                <a:schemeClr val="dk1"/>
              </a:solidFill>
              <a:latin typeface="Calibri"/>
              <a:ea typeface="Calibri"/>
              <a:cs typeface="Calibri"/>
              <a:sym typeface="Calibri"/>
            </a:endParaRPr>
          </a:p>
        </p:txBody>
      </p:sp>
      <p:sp>
        <p:nvSpPr>
          <p:cNvPr id="378" name="Google Shape;378;g369e15e6d3c_0_66"/>
          <p:cNvSpPr/>
          <p:nvPr/>
        </p:nvSpPr>
        <p:spPr>
          <a:xfrm>
            <a:off x="4893952" y="3733800"/>
            <a:ext cx="15435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Arial"/>
              <a:buNone/>
            </a:pPr>
            <a:r>
              <a:rPr b="1" i="0" lang="es-CL" sz="1800" u="none" cap="none" strike="noStrike">
                <a:solidFill>
                  <a:srgbClr val="000000"/>
                </a:solidFill>
                <a:latin typeface="Arial"/>
                <a:ea typeface="Arial"/>
                <a:cs typeface="Arial"/>
                <a:sym typeface="Arial"/>
              </a:rPr>
              <a:t>Puntos Clave</a:t>
            </a:r>
            <a:endParaRPr b="0" i="0" sz="1800" u="none" cap="none" strike="noStrike">
              <a:solidFill>
                <a:schemeClr val="dk1"/>
              </a:solidFill>
              <a:latin typeface="Calibri"/>
              <a:ea typeface="Calibri"/>
              <a:cs typeface="Calibri"/>
              <a:sym typeface="Calibri"/>
            </a:endParaRPr>
          </a:p>
        </p:txBody>
      </p:sp>
      <p:pic>
        <p:nvPicPr>
          <p:cNvPr descr="preencoded.png" id="379" name="Google Shape;379;g369e15e6d3c_0_66"/>
          <p:cNvPicPr preferRelativeResize="0"/>
          <p:nvPr/>
        </p:nvPicPr>
        <p:blipFill rotWithShape="1">
          <a:blip r:embed="rId10">
            <a:alphaModFix/>
          </a:blip>
          <a:srcRect b="0" l="0" r="0" t="0"/>
          <a:stretch/>
        </p:blipFill>
        <p:spPr>
          <a:xfrm>
            <a:off x="4893952" y="4143375"/>
            <a:ext cx="133351" cy="133351"/>
          </a:xfrm>
          <a:prstGeom prst="rect">
            <a:avLst/>
          </a:prstGeom>
          <a:noFill/>
          <a:ln>
            <a:noFill/>
          </a:ln>
        </p:spPr>
      </p:pic>
      <p:sp>
        <p:nvSpPr>
          <p:cNvPr id="380" name="Google Shape;380;g369e15e6d3c_0_66"/>
          <p:cNvSpPr/>
          <p:nvPr/>
        </p:nvSpPr>
        <p:spPr>
          <a:xfrm>
            <a:off x="5065400" y="4114800"/>
            <a:ext cx="34905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Aprende relaciones complejas en el lenguaje</a:t>
            </a:r>
            <a:endParaRPr b="0" i="0" sz="1100" u="none" cap="none" strike="noStrike">
              <a:solidFill>
                <a:schemeClr val="dk1"/>
              </a:solidFill>
              <a:latin typeface="Calibri"/>
              <a:ea typeface="Calibri"/>
              <a:cs typeface="Calibri"/>
              <a:sym typeface="Calibri"/>
            </a:endParaRPr>
          </a:p>
        </p:txBody>
      </p:sp>
      <p:pic>
        <p:nvPicPr>
          <p:cNvPr descr="preencoded.png" id="381" name="Google Shape;381;g369e15e6d3c_0_66"/>
          <p:cNvPicPr preferRelativeResize="0"/>
          <p:nvPr/>
        </p:nvPicPr>
        <p:blipFill rotWithShape="1">
          <a:blip r:embed="rId10">
            <a:alphaModFix/>
          </a:blip>
          <a:srcRect b="0" l="0" r="0" t="0"/>
          <a:stretch/>
        </p:blipFill>
        <p:spPr>
          <a:xfrm>
            <a:off x="4893952" y="4371975"/>
            <a:ext cx="133351" cy="133351"/>
          </a:xfrm>
          <a:prstGeom prst="rect">
            <a:avLst/>
          </a:prstGeom>
          <a:noFill/>
          <a:ln>
            <a:noFill/>
          </a:ln>
        </p:spPr>
      </p:pic>
      <p:sp>
        <p:nvSpPr>
          <p:cNvPr id="382" name="Google Shape;382;g369e15e6d3c_0_66"/>
          <p:cNvSpPr/>
          <p:nvPr/>
        </p:nvSpPr>
        <p:spPr>
          <a:xfrm>
            <a:off x="5065399" y="4343400"/>
            <a:ext cx="38058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Procesa información en paralelo (¡más rápido!)</a:t>
            </a:r>
            <a:endParaRPr b="0" i="0" sz="1100" u="none" cap="none" strike="noStrike">
              <a:solidFill>
                <a:schemeClr val="dk1"/>
              </a:solidFill>
              <a:latin typeface="Calibri"/>
              <a:ea typeface="Calibri"/>
              <a:cs typeface="Calibri"/>
              <a:sym typeface="Calibri"/>
            </a:endParaRPr>
          </a:p>
        </p:txBody>
      </p:sp>
      <p:pic>
        <p:nvPicPr>
          <p:cNvPr descr="preencoded.png" id="383" name="Google Shape;383;g369e15e6d3c_0_66"/>
          <p:cNvPicPr preferRelativeResize="0"/>
          <p:nvPr/>
        </p:nvPicPr>
        <p:blipFill rotWithShape="1">
          <a:blip r:embed="rId10">
            <a:alphaModFix/>
          </a:blip>
          <a:srcRect b="0" l="0" r="0" t="0"/>
          <a:stretch/>
        </p:blipFill>
        <p:spPr>
          <a:xfrm>
            <a:off x="4893952" y="4600575"/>
            <a:ext cx="133351" cy="133351"/>
          </a:xfrm>
          <a:prstGeom prst="rect">
            <a:avLst/>
          </a:prstGeom>
          <a:noFill/>
          <a:ln>
            <a:noFill/>
          </a:ln>
        </p:spPr>
      </p:pic>
      <p:sp>
        <p:nvSpPr>
          <p:cNvPr id="384" name="Google Shape;384;g369e15e6d3c_0_66"/>
          <p:cNvSpPr/>
          <p:nvPr/>
        </p:nvSpPr>
        <p:spPr>
          <a:xfrm>
            <a:off x="5065399" y="4572000"/>
            <a:ext cx="45000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Ha revolucionado la traducción y los chatbots inteligentes</a:t>
            </a:r>
            <a:endParaRPr b="0" i="0" sz="1100" u="none" cap="none" strike="noStrike">
              <a:solidFill>
                <a:schemeClr val="dk1"/>
              </a:solidFill>
              <a:latin typeface="Calibri"/>
              <a:ea typeface="Calibri"/>
              <a:cs typeface="Calibri"/>
              <a:sym typeface="Calibri"/>
            </a:endParaRPr>
          </a:p>
        </p:txBody>
      </p:sp>
      <p:pic>
        <p:nvPicPr>
          <p:cNvPr descr="preencoded.png" id="385" name="Google Shape;385;g369e15e6d3c_0_66"/>
          <p:cNvPicPr preferRelativeResize="0"/>
          <p:nvPr/>
        </p:nvPicPr>
        <p:blipFill rotWithShape="1">
          <a:blip r:embed="rId10">
            <a:alphaModFix/>
          </a:blip>
          <a:srcRect b="0" l="0" r="0" t="0"/>
          <a:stretch/>
        </p:blipFill>
        <p:spPr>
          <a:xfrm>
            <a:off x="4893952" y="4829175"/>
            <a:ext cx="133351" cy="133351"/>
          </a:xfrm>
          <a:prstGeom prst="rect">
            <a:avLst/>
          </a:prstGeom>
          <a:noFill/>
          <a:ln>
            <a:noFill/>
          </a:ln>
        </p:spPr>
      </p:pic>
      <p:sp>
        <p:nvSpPr>
          <p:cNvPr id="386" name="Google Shape;386;g369e15e6d3c_0_66"/>
          <p:cNvSpPr/>
          <p:nvPr/>
        </p:nvSpPr>
        <p:spPr>
          <a:xfrm>
            <a:off x="5065400" y="4800600"/>
            <a:ext cx="48810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El mecanismo de atención permite focalizarse en palabras relevantes</a:t>
            </a:r>
            <a:endParaRPr b="0" i="0" sz="1100" u="none" cap="none" strike="noStrike">
              <a:solidFill>
                <a:schemeClr val="dk1"/>
              </a:solidFill>
              <a:latin typeface="Calibri"/>
              <a:ea typeface="Calibri"/>
              <a:cs typeface="Calibri"/>
              <a:sym typeface="Calibri"/>
            </a:endParaRPr>
          </a:p>
        </p:txBody>
      </p:sp>
      <p:sp>
        <p:nvSpPr>
          <p:cNvPr id="387" name="Google Shape;387;g369e15e6d3c_0_66"/>
          <p:cNvSpPr/>
          <p:nvPr/>
        </p:nvSpPr>
        <p:spPr>
          <a:xfrm>
            <a:off x="3205981" y="5219700"/>
            <a:ext cx="58752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s-CL" sz="1500" u="none" cap="none" strike="noStrike">
                <a:solidFill>
                  <a:srgbClr val="000000"/>
                </a:solidFill>
                <a:latin typeface="Arial"/>
                <a:ea typeface="Arial"/>
                <a:cs typeface="Arial"/>
                <a:sym typeface="Arial"/>
              </a:rPr>
              <a:t>Aplicación: Traducción a Lengua de Señas (Problema Seq2Seq)</a:t>
            </a:r>
            <a:endParaRPr b="0" i="0" sz="1500" u="none" cap="none" strike="noStrike">
              <a:solidFill>
                <a:schemeClr val="dk1"/>
              </a:solidFill>
              <a:latin typeface="Calibri"/>
              <a:ea typeface="Calibri"/>
              <a:cs typeface="Calibri"/>
              <a:sym typeface="Calibri"/>
            </a:endParaRPr>
          </a:p>
        </p:txBody>
      </p:sp>
      <p:sp>
        <p:nvSpPr>
          <p:cNvPr id="388" name="Google Shape;388;g369e15e6d3c_0_66"/>
          <p:cNvSpPr/>
          <p:nvPr/>
        </p:nvSpPr>
        <p:spPr>
          <a:xfrm>
            <a:off x="2581275" y="5915025"/>
            <a:ext cx="1676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s-CL" sz="1200" u="none" cap="none" strike="noStrike">
                <a:solidFill>
                  <a:srgbClr val="000000"/>
                </a:solidFill>
                <a:latin typeface="Arial"/>
                <a:ea typeface="Arial"/>
                <a:cs typeface="Arial"/>
                <a:sym typeface="Arial"/>
              </a:rPr>
              <a:t>Secuencia de Texto (Input)</a:t>
            </a:r>
            <a:endParaRPr b="0" i="0" sz="1200" u="none" cap="none" strike="noStrike">
              <a:solidFill>
                <a:schemeClr val="dk1"/>
              </a:solidFill>
              <a:latin typeface="Calibri"/>
              <a:ea typeface="Calibri"/>
              <a:cs typeface="Calibri"/>
              <a:sym typeface="Calibri"/>
            </a:endParaRPr>
          </a:p>
        </p:txBody>
      </p:sp>
      <p:sp>
        <p:nvSpPr>
          <p:cNvPr id="389" name="Google Shape;389;g369e15e6d3c_0_66"/>
          <p:cNvSpPr/>
          <p:nvPr/>
        </p:nvSpPr>
        <p:spPr>
          <a:xfrm>
            <a:off x="2581275" y="6372225"/>
            <a:ext cx="16764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a:t>
            </a:r>
            <a:r>
              <a:rPr lang="es-CL" sz="1100"/>
              <a:t>Buenas tardes</a:t>
            </a:r>
            <a:r>
              <a:rPr b="0" i="0" lang="es-CL" sz="1100" u="none" cap="none" strike="noStrike">
                <a:solidFill>
                  <a:srgbClr val="000000"/>
                </a:solidFill>
                <a:latin typeface="Arial"/>
                <a:ea typeface="Arial"/>
                <a:cs typeface="Arial"/>
                <a:sym typeface="Arial"/>
              </a:rPr>
              <a:t>"</a:t>
            </a:r>
            <a:endParaRPr b="0" i="0" sz="1100" u="none" cap="none" strike="noStrike">
              <a:solidFill>
                <a:schemeClr val="dk1"/>
              </a:solidFill>
              <a:latin typeface="Calibri"/>
              <a:ea typeface="Calibri"/>
              <a:cs typeface="Calibri"/>
              <a:sym typeface="Calibri"/>
            </a:endParaRPr>
          </a:p>
        </p:txBody>
      </p:sp>
      <p:pic>
        <p:nvPicPr>
          <p:cNvPr descr="preencoded.png" id="390" name="Google Shape;390;g369e15e6d3c_0_66"/>
          <p:cNvPicPr preferRelativeResize="0"/>
          <p:nvPr/>
        </p:nvPicPr>
        <p:blipFill rotWithShape="1">
          <a:blip r:embed="rId11">
            <a:alphaModFix/>
          </a:blip>
          <a:srcRect b="0" l="0" r="0" t="0"/>
          <a:stretch/>
        </p:blipFill>
        <p:spPr>
          <a:xfrm>
            <a:off x="4552951" y="6124575"/>
            <a:ext cx="200025" cy="228600"/>
          </a:xfrm>
          <a:prstGeom prst="rect">
            <a:avLst/>
          </a:prstGeom>
          <a:noFill/>
          <a:ln>
            <a:noFill/>
          </a:ln>
        </p:spPr>
      </p:pic>
      <p:sp>
        <p:nvSpPr>
          <p:cNvPr id="391" name="Google Shape;391;g369e15e6d3c_0_66"/>
          <p:cNvSpPr/>
          <p:nvPr/>
        </p:nvSpPr>
        <p:spPr>
          <a:xfrm>
            <a:off x="4905375" y="5867400"/>
            <a:ext cx="2381100" cy="742800"/>
          </a:xfrm>
          <a:prstGeom prst="rect">
            <a:avLst/>
          </a:prstGeom>
          <a:solidFill>
            <a:srgbClr val="E6EEF5"/>
          </a:solidFill>
          <a:ln cap="flat" cmpd="sng" w="9525">
            <a:solidFill>
              <a:srgbClr val="D1D5D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2" name="Google Shape;392;g369e15e6d3c_0_66"/>
          <p:cNvSpPr/>
          <p:nvPr/>
        </p:nvSpPr>
        <p:spPr>
          <a:xfrm>
            <a:off x="5057775" y="6029325"/>
            <a:ext cx="2171700" cy="22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s-CL" sz="1200" u="none" cap="none" strike="noStrike">
                <a:solidFill>
                  <a:srgbClr val="000000"/>
                </a:solidFill>
                <a:latin typeface="Arial"/>
                <a:ea typeface="Arial"/>
                <a:cs typeface="Arial"/>
                <a:sym typeface="Arial"/>
              </a:rPr>
              <a:t>Modelo Transformer</a:t>
            </a:r>
            <a:endParaRPr b="0" i="0" sz="1200" u="none" cap="none" strike="noStrike">
              <a:solidFill>
                <a:schemeClr val="dk1"/>
              </a:solidFill>
              <a:latin typeface="Calibri"/>
              <a:ea typeface="Calibri"/>
              <a:cs typeface="Calibri"/>
              <a:sym typeface="Calibri"/>
            </a:endParaRPr>
          </a:p>
        </p:txBody>
      </p:sp>
      <p:sp>
        <p:nvSpPr>
          <p:cNvPr id="393" name="Google Shape;393;g369e15e6d3c_0_66"/>
          <p:cNvSpPr/>
          <p:nvPr/>
        </p:nvSpPr>
        <p:spPr>
          <a:xfrm>
            <a:off x="5057775" y="6257925"/>
            <a:ext cx="21717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(Proceso Encoder-Decoder)</a:t>
            </a:r>
            <a:endParaRPr b="0" i="0" sz="1100" u="none" cap="none" strike="noStrike">
              <a:solidFill>
                <a:schemeClr val="dk1"/>
              </a:solidFill>
              <a:latin typeface="Calibri"/>
              <a:ea typeface="Calibri"/>
              <a:cs typeface="Calibri"/>
              <a:sym typeface="Calibri"/>
            </a:endParaRPr>
          </a:p>
        </p:txBody>
      </p:sp>
      <p:pic>
        <p:nvPicPr>
          <p:cNvPr descr="preencoded.png" id="394" name="Google Shape;394;g369e15e6d3c_0_66"/>
          <p:cNvPicPr preferRelativeResize="0"/>
          <p:nvPr/>
        </p:nvPicPr>
        <p:blipFill rotWithShape="1">
          <a:blip r:embed="rId11">
            <a:alphaModFix/>
          </a:blip>
          <a:srcRect b="0" l="0" r="0" t="0"/>
          <a:stretch/>
        </p:blipFill>
        <p:spPr>
          <a:xfrm>
            <a:off x="7439025" y="6124575"/>
            <a:ext cx="200025" cy="228600"/>
          </a:xfrm>
          <a:prstGeom prst="rect">
            <a:avLst/>
          </a:prstGeom>
          <a:noFill/>
          <a:ln>
            <a:noFill/>
          </a:ln>
        </p:spPr>
      </p:pic>
      <p:sp>
        <p:nvSpPr>
          <p:cNvPr id="395" name="Google Shape;395;g369e15e6d3c_0_66"/>
          <p:cNvSpPr/>
          <p:nvPr/>
        </p:nvSpPr>
        <p:spPr>
          <a:xfrm>
            <a:off x="8029575" y="5800725"/>
            <a:ext cx="1676400" cy="686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i="0" lang="es-CL" sz="1200" u="none" cap="none" strike="noStrike">
                <a:solidFill>
                  <a:srgbClr val="000000"/>
                </a:solidFill>
                <a:latin typeface="Arial"/>
                <a:ea typeface="Arial"/>
                <a:cs typeface="Arial"/>
                <a:sym typeface="Arial"/>
              </a:rPr>
              <a:t>Secuencia de Coordenadas (Output)</a:t>
            </a:r>
            <a:endParaRPr b="0" i="0" sz="1200" u="none" cap="none" strike="noStrike">
              <a:solidFill>
                <a:schemeClr val="dk1"/>
              </a:solidFill>
              <a:latin typeface="Calibri"/>
              <a:ea typeface="Calibri"/>
              <a:cs typeface="Calibri"/>
              <a:sym typeface="Calibri"/>
            </a:endParaRPr>
          </a:p>
        </p:txBody>
      </p:sp>
      <p:sp>
        <p:nvSpPr>
          <p:cNvPr id="396" name="Google Shape;396;g369e15e6d3c_0_66"/>
          <p:cNvSpPr/>
          <p:nvPr/>
        </p:nvSpPr>
        <p:spPr>
          <a:xfrm>
            <a:off x="8029575" y="6486525"/>
            <a:ext cx="16764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s-CL" sz="1100" u="none" cap="none" strike="noStrike">
                <a:solidFill>
                  <a:srgbClr val="000000"/>
                </a:solidFill>
                <a:latin typeface="Arial"/>
                <a:ea typeface="Arial"/>
                <a:cs typeface="Arial"/>
                <a:sym typeface="Arial"/>
              </a:rPr>
              <a:t>[</a:t>
            </a:r>
            <a:r>
              <a:rPr lang="es-CL" sz="1100"/>
              <a:t>Landmarks </a:t>
            </a:r>
            <a:r>
              <a:rPr b="0" i="0" lang="es-CL" sz="1100" u="none" cap="none" strike="noStrike">
                <a:solidFill>
                  <a:srgbClr val="000000"/>
                </a:solidFill>
                <a:latin typeface="Arial"/>
                <a:ea typeface="Arial"/>
                <a:cs typeface="Arial"/>
                <a:sym typeface="Arial"/>
              </a:rPr>
              <a:t>(x, y, z),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descr="preencoded.png" id="402" name="Google Shape;402;g36c1f40db33_1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03" name="Google Shape;403;g36c1f40db33_1_0"/>
          <p:cNvSpPr/>
          <p:nvPr/>
        </p:nvSpPr>
        <p:spPr>
          <a:xfrm>
            <a:off x="1209005" y="304800"/>
            <a:ext cx="9869100" cy="38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40AF"/>
              </a:buClr>
              <a:buSzPts val="2700"/>
              <a:buFont typeface="Arial"/>
              <a:buNone/>
            </a:pPr>
            <a:r>
              <a:rPr b="1" i="0" lang="es-CL" sz="2700" u="none" cap="none" strike="noStrike">
                <a:solidFill>
                  <a:srgbClr val="1E40AF"/>
                </a:solidFill>
                <a:latin typeface="Arial"/>
                <a:ea typeface="Arial"/>
                <a:cs typeface="Arial"/>
                <a:sym typeface="Arial"/>
              </a:rPr>
              <a:t>Entrenamiento del Modelo: Enseñando con Nuestro Dataset</a:t>
            </a:r>
            <a:endParaRPr b="0" i="0" sz="2700" u="none" cap="none" strike="noStrike">
              <a:solidFill>
                <a:schemeClr val="dk1"/>
              </a:solidFill>
              <a:latin typeface="Calibri"/>
              <a:ea typeface="Calibri"/>
              <a:cs typeface="Calibri"/>
              <a:sym typeface="Calibri"/>
            </a:endParaRPr>
          </a:p>
        </p:txBody>
      </p:sp>
      <p:sp>
        <p:nvSpPr>
          <p:cNvPr id="404" name="Google Shape;404;g36c1f40db33_1_0"/>
          <p:cNvSpPr/>
          <p:nvPr/>
        </p:nvSpPr>
        <p:spPr>
          <a:xfrm>
            <a:off x="3276600" y="1162051"/>
            <a:ext cx="2381100" cy="1752900"/>
          </a:xfrm>
          <a:prstGeom prst="rect">
            <a:avLst/>
          </a:prstGeom>
          <a:solidFill>
            <a:srgbClr val="E0F2F7"/>
          </a:solidFill>
          <a:ln cap="flat" cmpd="sng" w="9525">
            <a:solidFill>
              <a:srgbClr val="A7D9E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5" name="Google Shape;405;g36c1f40db33_1_0"/>
          <p:cNvSpPr/>
          <p:nvPr/>
        </p:nvSpPr>
        <p:spPr>
          <a:xfrm>
            <a:off x="3429000" y="1333500"/>
            <a:ext cx="21717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500"/>
              <a:buFont typeface="Arial"/>
              <a:buNone/>
            </a:pPr>
            <a:r>
              <a:rPr b="1" i="0" lang="es-CL" sz="1500" u="none" cap="none" strike="noStrike">
                <a:solidFill>
                  <a:srgbClr val="1D4ED8"/>
                </a:solidFill>
                <a:latin typeface="Arial"/>
                <a:ea typeface="Arial"/>
                <a:cs typeface="Arial"/>
                <a:sym typeface="Arial"/>
              </a:rPr>
              <a:t>Paso 1: Alimentar con Datos</a:t>
            </a:r>
            <a:endParaRPr b="0" i="0" sz="1500" u="none" cap="none" strike="noStrike">
              <a:solidFill>
                <a:schemeClr val="dk1"/>
              </a:solidFill>
              <a:latin typeface="Calibri"/>
              <a:ea typeface="Calibri"/>
              <a:cs typeface="Calibri"/>
              <a:sym typeface="Calibri"/>
            </a:endParaRPr>
          </a:p>
        </p:txBody>
      </p:sp>
      <p:pic>
        <p:nvPicPr>
          <p:cNvPr descr="preencoded.png" id="406" name="Google Shape;406;g36c1f40db33_1_0"/>
          <p:cNvPicPr preferRelativeResize="0"/>
          <p:nvPr/>
        </p:nvPicPr>
        <p:blipFill rotWithShape="1">
          <a:blip r:embed="rId4">
            <a:alphaModFix/>
          </a:blip>
          <a:srcRect b="0" l="0" r="0" t="0"/>
          <a:stretch/>
        </p:blipFill>
        <p:spPr>
          <a:xfrm>
            <a:off x="4295775" y="1866900"/>
            <a:ext cx="342900" cy="457200"/>
          </a:xfrm>
          <a:prstGeom prst="rect">
            <a:avLst/>
          </a:prstGeom>
          <a:noFill/>
          <a:ln>
            <a:noFill/>
          </a:ln>
        </p:spPr>
      </p:pic>
      <p:sp>
        <p:nvSpPr>
          <p:cNvPr id="407" name="Google Shape;407;g36c1f40db33_1_0"/>
          <p:cNvSpPr/>
          <p:nvPr/>
        </p:nvSpPr>
        <p:spPr>
          <a:xfrm>
            <a:off x="3781685" y="2400300"/>
            <a:ext cx="1466400" cy="19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Nuestro Dataset (.json)</a:t>
            </a:r>
            <a:endParaRPr b="0" i="0" sz="1100" u="none" cap="none" strike="noStrike">
              <a:solidFill>
                <a:schemeClr val="dk1"/>
              </a:solidFill>
              <a:latin typeface="Calibri"/>
              <a:ea typeface="Calibri"/>
              <a:cs typeface="Calibri"/>
              <a:sym typeface="Calibri"/>
            </a:endParaRPr>
          </a:p>
        </p:txBody>
      </p:sp>
      <p:sp>
        <p:nvSpPr>
          <p:cNvPr id="408" name="Google Shape;408;g36c1f40db33_1_0"/>
          <p:cNvSpPr/>
          <p:nvPr/>
        </p:nvSpPr>
        <p:spPr>
          <a:xfrm>
            <a:off x="3637099" y="2590800"/>
            <a:ext cx="1755600" cy="152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74151"/>
              </a:buClr>
              <a:buSzPts val="900"/>
              <a:buFont typeface="Arial"/>
              <a:buNone/>
            </a:pPr>
            <a:r>
              <a:rPr b="0" i="0" lang="es-CL" sz="900" u="none" cap="none" strike="noStrike">
                <a:solidFill>
                  <a:srgbClr val="374151"/>
                </a:solidFill>
                <a:latin typeface="Arial"/>
                <a:ea typeface="Arial"/>
                <a:cs typeface="Arial"/>
                <a:sym typeface="Arial"/>
              </a:rPr>
              <a:t>{"texto": "hola", "landmarks": [...]}</a:t>
            </a:r>
            <a:endParaRPr b="0" i="0" sz="900" u="none" cap="none" strike="noStrike">
              <a:solidFill>
                <a:schemeClr val="dk1"/>
              </a:solidFill>
              <a:latin typeface="Calibri"/>
              <a:ea typeface="Calibri"/>
              <a:cs typeface="Calibri"/>
              <a:sym typeface="Calibri"/>
            </a:endParaRPr>
          </a:p>
        </p:txBody>
      </p:sp>
      <p:pic>
        <p:nvPicPr>
          <p:cNvPr descr="preencoded.png" id="409" name="Google Shape;409;g36c1f40db33_1_0"/>
          <p:cNvPicPr preferRelativeResize="0"/>
          <p:nvPr/>
        </p:nvPicPr>
        <p:blipFill rotWithShape="1">
          <a:blip r:embed="rId5">
            <a:alphaModFix/>
          </a:blip>
          <a:srcRect b="0" l="0" r="0" t="0"/>
          <a:stretch/>
        </p:blipFill>
        <p:spPr>
          <a:xfrm>
            <a:off x="5962651" y="1885951"/>
            <a:ext cx="266700" cy="304800"/>
          </a:xfrm>
          <a:prstGeom prst="rect">
            <a:avLst/>
          </a:prstGeom>
          <a:noFill/>
          <a:ln>
            <a:noFill/>
          </a:ln>
        </p:spPr>
      </p:pic>
      <p:sp>
        <p:nvSpPr>
          <p:cNvPr id="410" name="Google Shape;410;g36c1f40db33_1_0"/>
          <p:cNvSpPr/>
          <p:nvPr/>
        </p:nvSpPr>
        <p:spPr>
          <a:xfrm>
            <a:off x="6534151" y="1143000"/>
            <a:ext cx="2381100" cy="1790700"/>
          </a:xfrm>
          <a:prstGeom prst="rect">
            <a:avLst/>
          </a:prstGeom>
          <a:solidFill>
            <a:srgbClr val="E0F2F7"/>
          </a:solidFill>
          <a:ln cap="flat" cmpd="sng" w="9525">
            <a:solidFill>
              <a:srgbClr val="A7D9E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1" name="Google Shape;411;g36c1f40db33_1_0"/>
          <p:cNvSpPr/>
          <p:nvPr/>
        </p:nvSpPr>
        <p:spPr>
          <a:xfrm>
            <a:off x="6686551" y="1295400"/>
            <a:ext cx="21717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500"/>
              <a:buFont typeface="Arial"/>
              <a:buNone/>
            </a:pPr>
            <a:r>
              <a:rPr b="1" i="0" lang="es-CL" sz="1500" u="none" cap="none" strike="noStrike">
                <a:solidFill>
                  <a:srgbClr val="1D4ED8"/>
                </a:solidFill>
                <a:latin typeface="Arial"/>
                <a:ea typeface="Arial"/>
                <a:cs typeface="Arial"/>
                <a:sym typeface="Arial"/>
              </a:rPr>
              <a:t>Paso 2: Generar Predicción</a:t>
            </a:r>
            <a:endParaRPr b="0" i="0" sz="1500" u="none" cap="none" strike="noStrike">
              <a:solidFill>
                <a:schemeClr val="dk1"/>
              </a:solidFill>
              <a:latin typeface="Calibri"/>
              <a:ea typeface="Calibri"/>
              <a:cs typeface="Calibri"/>
              <a:sym typeface="Calibri"/>
            </a:endParaRPr>
          </a:p>
        </p:txBody>
      </p:sp>
      <p:pic>
        <p:nvPicPr>
          <p:cNvPr descr="preencoded.png" id="412" name="Google Shape;412;g36c1f40db33_1_0"/>
          <p:cNvPicPr preferRelativeResize="0"/>
          <p:nvPr/>
        </p:nvPicPr>
        <p:blipFill rotWithShape="1">
          <a:blip r:embed="rId6">
            <a:alphaModFix/>
          </a:blip>
          <a:srcRect b="0" l="0" r="0" t="0"/>
          <a:stretch/>
        </p:blipFill>
        <p:spPr>
          <a:xfrm>
            <a:off x="7467600" y="1828800"/>
            <a:ext cx="514351" cy="457200"/>
          </a:xfrm>
          <a:prstGeom prst="rect">
            <a:avLst/>
          </a:prstGeom>
          <a:noFill/>
          <a:ln>
            <a:noFill/>
          </a:ln>
        </p:spPr>
      </p:pic>
      <p:sp>
        <p:nvSpPr>
          <p:cNvPr id="413" name="Google Shape;413;g36c1f40db33_1_0"/>
          <p:cNvSpPr/>
          <p:nvPr/>
        </p:nvSpPr>
        <p:spPr>
          <a:xfrm>
            <a:off x="6686551" y="2362200"/>
            <a:ext cx="2171700" cy="38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El Transformer genera una secuencia de coordenadas.</a:t>
            </a:r>
            <a:endParaRPr b="0" i="0" sz="1100" u="none" cap="none" strike="noStrike">
              <a:solidFill>
                <a:schemeClr val="dk1"/>
              </a:solidFill>
              <a:latin typeface="Calibri"/>
              <a:ea typeface="Calibri"/>
              <a:cs typeface="Calibri"/>
              <a:sym typeface="Calibri"/>
            </a:endParaRPr>
          </a:p>
        </p:txBody>
      </p:sp>
      <p:pic>
        <p:nvPicPr>
          <p:cNvPr descr="preencoded.png" id="414" name="Google Shape;414;g36c1f40db33_1_0"/>
          <p:cNvPicPr preferRelativeResize="0"/>
          <p:nvPr/>
        </p:nvPicPr>
        <p:blipFill rotWithShape="1">
          <a:blip r:embed="rId7">
            <a:alphaModFix/>
          </a:blip>
          <a:srcRect b="0" l="0" r="0" t="0"/>
          <a:stretch/>
        </p:blipFill>
        <p:spPr>
          <a:xfrm>
            <a:off x="2579005" y="3200400"/>
            <a:ext cx="266700" cy="304800"/>
          </a:xfrm>
          <a:prstGeom prst="rect">
            <a:avLst/>
          </a:prstGeom>
          <a:noFill/>
          <a:ln>
            <a:noFill/>
          </a:ln>
        </p:spPr>
      </p:pic>
      <p:sp>
        <p:nvSpPr>
          <p:cNvPr id="415" name="Google Shape;415;g36c1f40db33_1_0"/>
          <p:cNvSpPr/>
          <p:nvPr/>
        </p:nvSpPr>
        <p:spPr>
          <a:xfrm>
            <a:off x="1752600" y="3505200"/>
            <a:ext cx="20148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63"/>
              </a:buClr>
              <a:buSzPts val="1100"/>
              <a:buFont typeface="Arial"/>
              <a:buNone/>
            </a:pPr>
            <a:r>
              <a:rPr b="0" i="0" lang="es-CL" sz="1100" u="none" cap="none" strike="noStrike">
                <a:solidFill>
                  <a:srgbClr val="4B5563"/>
                </a:solidFill>
                <a:latin typeface="Arial"/>
                <a:ea typeface="Arial"/>
                <a:cs typeface="Arial"/>
                <a:sym typeface="Arial"/>
              </a:rPr>
              <a:t>Repetir miles de veces (Épocas)</a:t>
            </a:r>
            <a:endParaRPr b="0" i="0" sz="1100" u="none" cap="none" strike="noStrike">
              <a:solidFill>
                <a:schemeClr val="dk1"/>
              </a:solidFill>
              <a:latin typeface="Calibri"/>
              <a:ea typeface="Calibri"/>
              <a:cs typeface="Calibri"/>
              <a:sym typeface="Calibri"/>
            </a:endParaRPr>
          </a:p>
        </p:txBody>
      </p:sp>
      <p:pic>
        <p:nvPicPr>
          <p:cNvPr descr="preencoded.png" id="416" name="Google Shape;416;g36c1f40db33_1_0"/>
          <p:cNvPicPr preferRelativeResize="0"/>
          <p:nvPr/>
        </p:nvPicPr>
        <p:blipFill rotWithShape="1">
          <a:blip r:embed="rId8">
            <a:alphaModFix/>
          </a:blip>
          <a:srcRect b="0" l="0" r="0" t="0"/>
          <a:stretch/>
        </p:blipFill>
        <p:spPr>
          <a:xfrm>
            <a:off x="8698700" y="3333750"/>
            <a:ext cx="228600" cy="304800"/>
          </a:xfrm>
          <a:prstGeom prst="rect">
            <a:avLst/>
          </a:prstGeom>
          <a:noFill/>
          <a:ln>
            <a:noFill/>
          </a:ln>
        </p:spPr>
      </p:pic>
      <p:sp>
        <p:nvSpPr>
          <p:cNvPr id="417" name="Google Shape;417;g36c1f40db33_1_0"/>
          <p:cNvSpPr/>
          <p:nvPr/>
        </p:nvSpPr>
        <p:spPr>
          <a:xfrm>
            <a:off x="3276600" y="4000500"/>
            <a:ext cx="2381100" cy="1981200"/>
          </a:xfrm>
          <a:prstGeom prst="rect">
            <a:avLst/>
          </a:prstGeom>
          <a:solidFill>
            <a:srgbClr val="E0F2F7"/>
          </a:solidFill>
          <a:ln cap="flat" cmpd="sng" w="9525">
            <a:solidFill>
              <a:srgbClr val="A7D9E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8" name="Google Shape;418;g36c1f40db33_1_0"/>
          <p:cNvSpPr/>
          <p:nvPr/>
        </p:nvSpPr>
        <p:spPr>
          <a:xfrm>
            <a:off x="3429000" y="4152900"/>
            <a:ext cx="21717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500"/>
              <a:buFont typeface="Arial"/>
              <a:buNone/>
            </a:pPr>
            <a:r>
              <a:rPr b="1" i="0" lang="es-CL" sz="1500" u="none" cap="none" strike="noStrike">
                <a:solidFill>
                  <a:srgbClr val="1D4ED8"/>
                </a:solidFill>
                <a:latin typeface="Arial"/>
                <a:ea typeface="Arial"/>
                <a:cs typeface="Arial"/>
                <a:sym typeface="Arial"/>
              </a:rPr>
              <a:t>Paso 4: Corregir y Aprender</a:t>
            </a:r>
            <a:endParaRPr b="0" i="0" sz="1500" u="none" cap="none" strike="noStrike">
              <a:solidFill>
                <a:schemeClr val="dk1"/>
              </a:solidFill>
              <a:latin typeface="Calibri"/>
              <a:ea typeface="Calibri"/>
              <a:cs typeface="Calibri"/>
              <a:sym typeface="Calibri"/>
            </a:endParaRPr>
          </a:p>
        </p:txBody>
      </p:sp>
      <p:pic>
        <p:nvPicPr>
          <p:cNvPr descr="preencoded.png" id="419" name="Google Shape;419;g36c1f40db33_1_0"/>
          <p:cNvPicPr preferRelativeResize="0"/>
          <p:nvPr/>
        </p:nvPicPr>
        <p:blipFill rotWithShape="1">
          <a:blip r:embed="rId9">
            <a:alphaModFix/>
          </a:blip>
          <a:srcRect b="0" l="0" r="0" t="0"/>
          <a:stretch/>
        </p:blipFill>
        <p:spPr>
          <a:xfrm>
            <a:off x="4181475" y="4686300"/>
            <a:ext cx="571500" cy="457200"/>
          </a:xfrm>
          <a:prstGeom prst="rect">
            <a:avLst/>
          </a:prstGeom>
          <a:noFill/>
          <a:ln>
            <a:noFill/>
          </a:ln>
        </p:spPr>
      </p:pic>
      <p:sp>
        <p:nvSpPr>
          <p:cNvPr id="420" name="Google Shape;420;g36c1f40db33_1_0"/>
          <p:cNvSpPr/>
          <p:nvPr/>
        </p:nvSpPr>
        <p:spPr>
          <a:xfrm>
            <a:off x="3429000" y="5219700"/>
            <a:ext cx="21717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Se ajustan los parámetros internos del Transformer (Optimizador Adam).</a:t>
            </a:r>
            <a:endParaRPr b="0" i="0" sz="1100" u="none" cap="none" strike="noStrike">
              <a:solidFill>
                <a:schemeClr val="dk1"/>
              </a:solidFill>
              <a:latin typeface="Calibri"/>
              <a:ea typeface="Calibri"/>
              <a:cs typeface="Calibri"/>
              <a:sym typeface="Calibri"/>
            </a:endParaRPr>
          </a:p>
        </p:txBody>
      </p:sp>
      <p:pic>
        <p:nvPicPr>
          <p:cNvPr descr="preencoded.png" id="421" name="Google Shape;421;g36c1f40db33_1_0"/>
          <p:cNvPicPr preferRelativeResize="0"/>
          <p:nvPr/>
        </p:nvPicPr>
        <p:blipFill rotWithShape="1">
          <a:blip r:embed="rId10">
            <a:alphaModFix/>
          </a:blip>
          <a:srcRect b="0" l="0" r="0" t="0"/>
          <a:stretch/>
        </p:blipFill>
        <p:spPr>
          <a:xfrm>
            <a:off x="5962651" y="4819651"/>
            <a:ext cx="266700" cy="304800"/>
          </a:xfrm>
          <a:prstGeom prst="rect">
            <a:avLst/>
          </a:prstGeom>
          <a:noFill/>
          <a:ln>
            <a:noFill/>
          </a:ln>
        </p:spPr>
      </p:pic>
      <p:sp>
        <p:nvSpPr>
          <p:cNvPr id="422" name="Google Shape;422;g36c1f40db33_1_0"/>
          <p:cNvSpPr/>
          <p:nvPr/>
        </p:nvSpPr>
        <p:spPr>
          <a:xfrm>
            <a:off x="6534151" y="4229100"/>
            <a:ext cx="2381100" cy="1485900"/>
          </a:xfrm>
          <a:prstGeom prst="rect">
            <a:avLst/>
          </a:prstGeom>
          <a:solidFill>
            <a:srgbClr val="E0F2F7"/>
          </a:solidFill>
          <a:ln cap="flat" cmpd="sng" w="9525">
            <a:solidFill>
              <a:srgbClr val="A7D9E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3" name="Google Shape;423;g36c1f40db33_1_0"/>
          <p:cNvSpPr/>
          <p:nvPr/>
        </p:nvSpPr>
        <p:spPr>
          <a:xfrm>
            <a:off x="6846056" y="4400551"/>
            <a:ext cx="18528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4ED8"/>
              </a:buClr>
              <a:buSzPts val="1500"/>
              <a:buFont typeface="Arial"/>
              <a:buNone/>
            </a:pPr>
            <a:r>
              <a:rPr b="1" i="0" lang="es-CL" sz="1500" u="none" cap="none" strike="noStrike">
                <a:solidFill>
                  <a:srgbClr val="1D4ED8"/>
                </a:solidFill>
                <a:latin typeface="Arial"/>
                <a:ea typeface="Arial"/>
                <a:cs typeface="Arial"/>
                <a:sym typeface="Arial"/>
              </a:rPr>
              <a:t>Paso 3: Medir Error</a:t>
            </a:r>
            <a:endParaRPr b="0" i="0" sz="1500" u="none" cap="none" strike="noStrike">
              <a:solidFill>
                <a:schemeClr val="dk1"/>
              </a:solidFill>
              <a:latin typeface="Calibri"/>
              <a:ea typeface="Calibri"/>
              <a:cs typeface="Calibri"/>
              <a:sym typeface="Calibri"/>
            </a:endParaRPr>
          </a:p>
        </p:txBody>
      </p:sp>
      <p:sp>
        <p:nvSpPr>
          <p:cNvPr id="424" name="Google Shape;424;g36c1f40db33_1_0"/>
          <p:cNvSpPr/>
          <p:nvPr/>
        </p:nvSpPr>
        <p:spPr>
          <a:xfrm>
            <a:off x="7031348" y="4743451"/>
            <a:ext cx="874500" cy="22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200"/>
              <a:buFont typeface="Arial"/>
              <a:buNone/>
            </a:pPr>
            <a:r>
              <a:rPr b="1" i="0" lang="es-CL" sz="1200" u="none" cap="none" strike="noStrike">
                <a:solidFill>
                  <a:srgbClr val="3B82F6"/>
                </a:solidFill>
                <a:latin typeface="Arial"/>
                <a:ea typeface="Arial"/>
                <a:cs typeface="Arial"/>
                <a:sym typeface="Arial"/>
              </a:rPr>
              <a:t>Predicción</a:t>
            </a:r>
            <a:endParaRPr b="0" i="0" sz="1200" u="none" cap="none" strike="noStrike">
              <a:solidFill>
                <a:schemeClr val="dk1"/>
              </a:solidFill>
              <a:latin typeface="Calibri"/>
              <a:ea typeface="Calibri"/>
              <a:cs typeface="Calibri"/>
              <a:sym typeface="Calibri"/>
            </a:endParaRPr>
          </a:p>
        </p:txBody>
      </p:sp>
      <p:pic>
        <p:nvPicPr>
          <p:cNvPr descr="preencoded.png" id="425" name="Google Shape;425;g36c1f40db33_1_0"/>
          <p:cNvPicPr preferRelativeResize="0"/>
          <p:nvPr/>
        </p:nvPicPr>
        <p:blipFill rotWithShape="1">
          <a:blip r:embed="rId11">
            <a:alphaModFix/>
          </a:blip>
          <a:srcRect b="0" l="0" r="0" t="0"/>
          <a:stretch/>
        </p:blipFill>
        <p:spPr>
          <a:xfrm>
            <a:off x="7886737" y="4781551"/>
            <a:ext cx="133351" cy="152400"/>
          </a:xfrm>
          <a:prstGeom prst="rect">
            <a:avLst/>
          </a:prstGeom>
          <a:noFill/>
          <a:ln>
            <a:noFill/>
          </a:ln>
        </p:spPr>
      </p:pic>
      <p:sp>
        <p:nvSpPr>
          <p:cNvPr id="426" name="Google Shape;426;g36c1f40db33_1_0"/>
          <p:cNvSpPr/>
          <p:nvPr/>
        </p:nvSpPr>
        <p:spPr>
          <a:xfrm>
            <a:off x="8096287" y="4743451"/>
            <a:ext cx="417300" cy="22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200"/>
              <a:buFont typeface="Arial"/>
              <a:buNone/>
            </a:pPr>
            <a:r>
              <a:rPr b="1" i="0" lang="es-CL" sz="1200" u="none" cap="none" strike="noStrike">
                <a:solidFill>
                  <a:srgbClr val="10B981"/>
                </a:solidFill>
                <a:latin typeface="Arial"/>
                <a:ea typeface="Arial"/>
                <a:cs typeface="Arial"/>
                <a:sym typeface="Arial"/>
              </a:rPr>
              <a:t>Real</a:t>
            </a:r>
            <a:endParaRPr b="0" i="0" sz="1200" u="none" cap="none" strike="noStrike">
              <a:solidFill>
                <a:schemeClr val="dk1"/>
              </a:solidFill>
              <a:latin typeface="Calibri"/>
              <a:ea typeface="Calibri"/>
              <a:cs typeface="Calibri"/>
              <a:sym typeface="Calibri"/>
            </a:endParaRPr>
          </a:p>
        </p:txBody>
      </p:sp>
      <p:sp>
        <p:nvSpPr>
          <p:cNvPr id="427" name="Google Shape;427;g36c1f40db33_1_0"/>
          <p:cNvSpPr/>
          <p:nvPr/>
        </p:nvSpPr>
        <p:spPr>
          <a:xfrm>
            <a:off x="6686551" y="4972051"/>
            <a:ext cx="2171700" cy="571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100"/>
              <a:buFont typeface="Arial"/>
              <a:buNone/>
            </a:pPr>
            <a:r>
              <a:rPr b="0" i="0" lang="es-CL" sz="1100" u="none" cap="none" strike="noStrike">
                <a:solidFill>
                  <a:srgbClr val="2563EB"/>
                </a:solidFill>
                <a:latin typeface="Arial"/>
                <a:ea typeface="Arial"/>
                <a:cs typeface="Arial"/>
                <a:sym typeface="Arial"/>
              </a:rPr>
              <a:t>Se compara la predicción con las coordenadas reales del dataset (MSE).</a:t>
            </a:r>
            <a:endParaRPr b="0" i="0" sz="1100" u="none" cap="none" strike="noStrike">
              <a:solidFill>
                <a:schemeClr val="dk1"/>
              </a:solidFill>
              <a:latin typeface="Calibri"/>
              <a:ea typeface="Calibri"/>
              <a:cs typeface="Calibri"/>
              <a:sym typeface="Calibri"/>
            </a:endParaRPr>
          </a:p>
        </p:txBody>
      </p:sp>
      <p:sp>
        <p:nvSpPr>
          <p:cNvPr id="428" name="Google Shape;428;g36c1f40db33_1_0"/>
          <p:cNvSpPr/>
          <p:nvPr/>
        </p:nvSpPr>
        <p:spPr>
          <a:xfrm>
            <a:off x="5143500" y="3028951"/>
            <a:ext cx="2000400" cy="102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800"/>
              <a:buFont typeface="Arial"/>
              <a:buNone/>
            </a:pPr>
            <a:r>
              <a:rPr b="1" i="0" lang="es-CL" sz="1800" u="none" cap="none" strike="noStrike">
                <a:solidFill>
                  <a:srgbClr val="4A5568"/>
                </a:solidFill>
                <a:latin typeface="Arial"/>
                <a:ea typeface="Arial"/>
                <a:cs typeface="Arial"/>
                <a:sym typeface="Arial"/>
              </a:rPr>
              <a:t>Minimizar el Error de Predicción</a:t>
            </a:r>
            <a:endParaRPr b="0" i="0" sz="1800" u="none" cap="none" strike="noStrike">
              <a:solidFill>
                <a:schemeClr val="dk1"/>
              </a:solidFill>
              <a:latin typeface="Calibri"/>
              <a:ea typeface="Calibri"/>
              <a:cs typeface="Calibri"/>
              <a:sym typeface="Calibri"/>
            </a:endParaRPr>
          </a:p>
        </p:txBody>
      </p:sp>
      <p:sp>
        <p:nvSpPr>
          <p:cNvPr id="429" name="Google Shape;429;g36c1f40db33_1_0"/>
          <p:cNvSpPr/>
          <p:nvPr/>
        </p:nvSpPr>
        <p:spPr>
          <a:xfrm>
            <a:off x="9315467" y="2752733"/>
            <a:ext cx="2666700" cy="2790900"/>
          </a:xfrm>
          <a:prstGeom prst="rect">
            <a:avLst/>
          </a:prstGeom>
          <a:solidFill>
            <a:srgbClr val="F0F4F8"/>
          </a:solidFill>
          <a:ln cap="flat" cmpd="sng" w="9525">
            <a:solidFill>
              <a:srgbClr val="9BB8D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0" name="Google Shape;430;g36c1f40db33_1_0"/>
          <p:cNvSpPr/>
          <p:nvPr/>
        </p:nvSpPr>
        <p:spPr>
          <a:xfrm>
            <a:off x="9441567" y="2943233"/>
            <a:ext cx="24576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3333"/>
              </a:buClr>
              <a:buSzPts val="1500"/>
              <a:buFont typeface="Arial"/>
              <a:buNone/>
            </a:pPr>
            <a:r>
              <a:rPr b="1" i="0" lang="es-CL" sz="1500" u="none" cap="none" strike="noStrike">
                <a:solidFill>
                  <a:srgbClr val="333333"/>
                </a:solidFill>
                <a:latin typeface="Arial"/>
                <a:ea typeface="Arial"/>
                <a:cs typeface="Arial"/>
                <a:sym typeface="Arial"/>
              </a:rPr>
              <a:t>Parámetros Clave del Entrenamiento</a:t>
            </a:r>
            <a:endParaRPr b="0" i="0" sz="1500" u="none" cap="none" strike="noStrike">
              <a:solidFill>
                <a:schemeClr val="dk1"/>
              </a:solidFill>
              <a:latin typeface="Calibri"/>
              <a:ea typeface="Calibri"/>
              <a:cs typeface="Calibri"/>
              <a:sym typeface="Calibri"/>
            </a:endParaRPr>
          </a:p>
        </p:txBody>
      </p:sp>
      <p:sp>
        <p:nvSpPr>
          <p:cNvPr id="431" name="Google Shape;431;g36c1f40db33_1_0"/>
          <p:cNvSpPr/>
          <p:nvPr/>
        </p:nvSpPr>
        <p:spPr>
          <a:xfrm>
            <a:off x="9441567" y="3609975"/>
            <a:ext cx="1549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1" i="0" lang="es-CL" sz="1200" u="none" cap="none" strike="noStrike">
                <a:solidFill>
                  <a:srgbClr val="555555"/>
                </a:solidFill>
                <a:latin typeface="Arial"/>
                <a:ea typeface="Arial"/>
                <a:cs typeface="Arial"/>
                <a:sym typeface="Arial"/>
              </a:rPr>
              <a:t>Parámetros Totales:</a:t>
            </a:r>
            <a:endParaRPr b="0" i="0" sz="1200" u="none" cap="none" strike="noStrike">
              <a:solidFill>
                <a:schemeClr val="dk1"/>
              </a:solidFill>
              <a:latin typeface="Calibri"/>
              <a:ea typeface="Calibri"/>
              <a:cs typeface="Calibri"/>
              <a:sym typeface="Calibri"/>
            </a:endParaRPr>
          </a:p>
        </p:txBody>
      </p:sp>
      <p:sp>
        <p:nvSpPr>
          <p:cNvPr id="432" name="Google Shape;432;g36c1f40db33_1_0"/>
          <p:cNvSpPr/>
          <p:nvPr/>
        </p:nvSpPr>
        <p:spPr>
          <a:xfrm>
            <a:off x="10990776" y="3610041"/>
            <a:ext cx="6885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0" i="0" lang="es-CL" sz="1200" u="none" cap="none" strike="noStrike">
                <a:solidFill>
                  <a:srgbClr val="555555"/>
                </a:solidFill>
                <a:latin typeface="Arial"/>
                <a:ea typeface="Arial"/>
                <a:cs typeface="Arial"/>
                <a:sym typeface="Arial"/>
              </a:rPr>
              <a:t>713.982</a:t>
            </a:r>
            <a:endParaRPr b="0" i="0" sz="1200" u="none" cap="none" strike="noStrike">
              <a:solidFill>
                <a:schemeClr val="dk1"/>
              </a:solidFill>
              <a:latin typeface="Calibri"/>
              <a:ea typeface="Calibri"/>
              <a:cs typeface="Calibri"/>
              <a:sym typeface="Calibri"/>
            </a:endParaRPr>
          </a:p>
        </p:txBody>
      </p:sp>
      <p:sp>
        <p:nvSpPr>
          <p:cNvPr id="433" name="Google Shape;433;g36c1f40db33_1_0"/>
          <p:cNvSpPr/>
          <p:nvPr/>
        </p:nvSpPr>
        <p:spPr>
          <a:xfrm>
            <a:off x="9428967" y="3950375"/>
            <a:ext cx="15744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1" i="0" lang="es-CL" sz="1200" u="none" cap="none" strike="noStrike">
                <a:solidFill>
                  <a:srgbClr val="555555"/>
                </a:solidFill>
                <a:latin typeface="Arial"/>
                <a:ea typeface="Arial"/>
                <a:cs typeface="Arial"/>
                <a:sym typeface="Arial"/>
              </a:rPr>
              <a:t>Tamaño del Dataset:</a:t>
            </a:r>
            <a:endParaRPr b="0" i="0" sz="1200" u="none" cap="none" strike="noStrike">
              <a:solidFill>
                <a:schemeClr val="dk1"/>
              </a:solidFill>
              <a:latin typeface="Calibri"/>
              <a:ea typeface="Calibri"/>
              <a:cs typeface="Calibri"/>
              <a:sym typeface="Calibri"/>
            </a:endParaRPr>
          </a:p>
        </p:txBody>
      </p:sp>
      <p:sp>
        <p:nvSpPr>
          <p:cNvPr id="434" name="Google Shape;434;g36c1f40db33_1_0"/>
          <p:cNvSpPr/>
          <p:nvPr/>
        </p:nvSpPr>
        <p:spPr>
          <a:xfrm>
            <a:off x="9428950" y="4102941"/>
            <a:ext cx="18483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0" i="0" lang="es-CL" sz="1200" u="none" cap="none" strike="noStrike">
                <a:solidFill>
                  <a:srgbClr val="555555"/>
                </a:solidFill>
                <a:latin typeface="Arial"/>
                <a:ea typeface="Arial"/>
                <a:cs typeface="Arial"/>
                <a:sym typeface="Arial"/>
              </a:rPr>
              <a:t>111 secuencias (Prototipo)</a:t>
            </a:r>
            <a:endParaRPr b="0" i="0" sz="1200" u="none" cap="none" strike="noStrike">
              <a:solidFill>
                <a:schemeClr val="dk1"/>
              </a:solidFill>
              <a:latin typeface="Calibri"/>
              <a:ea typeface="Calibri"/>
              <a:cs typeface="Calibri"/>
              <a:sym typeface="Calibri"/>
            </a:endParaRPr>
          </a:p>
        </p:txBody>
      </p:sp>
      <p:sp>
        <p:nvSpPr>
          <p:cNvPr id="435" name="Google Shape;435;g36c1f40db33_1_0"/>
          <p:cNvSpPr/>
          <p:nvPr/>
        </p:nvSpPr>
        <p:spPr>
          <a:xfrm>
            <a:off x="9441567" y="4557541"/>
            <a:ext cx="10521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1" i="0" lang="es-CL" sz="1200" u="none" cap="none" strike="noStrike">
                <a:solidFill>
                  <a:srgbClr val="555555"/>
                </a:solidFill>
                <a:latin typeface="Arial"/>
                <a:ea typeface="Arial"/>
                <a:cs typeface="Arial"/>
                <a:sym typeface="Arial"/>
              </a:rPr>
              <a:t>Mejor Época:</a:t>
            </a:r>
            <a:endParaRPr b="0" i="0" sz="1200" u="none" cap="none" strike="noStrike">
              <a:solidFill>
                <a:schemeClr val="dk1"/>
              </a:solidFill>
              <a:latin typeface="Calibri"/>
              <a:ea typeface="Calibri"/>
              <a:cs typeface="Calibri"/>
              <a:sym typeface="Calibri"/>
            </a:endParaRPr>
          </a:p>
        </p:txBody>
      </p:sp>
      <p:sp>
        <p:nvSpPr>
          <p:cNvPr id="436" name="Google Shape;436;g36c1f40db33_1_0"/>
          <p:cNvSpPr/>
          <p:nvPr/>
        </p:nvSpPr>
        <p:spPr>
          <a:xfrm>
            <a:off x="10493557" y="4557541"/>
            <a:ext cx="8157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0" i="0" lang="es-CL" sz="1200" u="none" cap="none" strike="noStrike">
                <a:solidFill>
                  <a:srgbClr val="555555"/>
                </a:solidFill>
                <a:latin typeface="Arial"/>
                <a:ea typeface="Arial"/>
                <a:cs typeface="Arial"/>
                <a:sym typeface="Arial"/>
              </a:rPr>
              <a:t>86 de 100</a:t>
            </a:r>
            <a:endParaRPr b="0" i="0" sz="1200" u="none" cap="none" strike="noStrike">
              <a:solidFill>
                <a:schemeClr val="dk1"/>
              </a:solidFill>
              <a:latin typeface="Calibri"/>
              <a:ea typeface="Calibri"/>
              <a:cs typeface="Calibri"/>
              <a:sym typeface="Calibri"/>
            </a:endParaRPr>
          </a:p>
        </p:txBody>
      </p:sp>
      <p:sp>
        <p:nvSpPr>
          <p:cNvPr id="437" name="Google Shape;437;g36c1f40db33_1_0"/>
          <p:cNvSpPr/>
          <p:nvPr/>
        </p:nvSpPr>
        <p:spPr>
          <a:xfrm>
            <a:off x="9441567" y="4886175"/>
            <a:ext cx="7476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1" i="0" lang="es-CL" sz="1200" u="none" cap="none" strike="noStrike">
                <a:solidFill>
                  <a:srgbClr val="555555"/>
                </a:solidFill>
                <a:latin typeface="Arial"/>
                <a:ea typeface="Arial"/>
                <a:cs typeface="Arial"/>
                <a:sym typeface="Arial"/>
              </a:rPr>
              <a:t>val_mae:</a:t>
            </a:r>
            <a:endParaRPr b="1" i="0" sz="1200" u="none" cap="none" strike="noStrike">
              <a:solidFill>
                <a:schemeClr val="dk1"/>
              </a:solidFill>
              <a:latin typeface="Calibri"/>
              <a:ea typeface="Calibri"/>
              <a:cs typeface="Calibri"/>
              <a:sym typeface="Calibri"/>
            </a:endParaRPr>
          </a:p>
        </p:txBody>
      </p:sp>
      <p:sp>
        <p:nvSpPr>
          <p:cNvPr id="438" name="Google Shape;438;g36c1f40db33_1_0"/>
          <p:cNvSpPr/>
          <p:nvPr/>
        </p:nvSpPr>
        <p:spPr>
          <a:xfrm>
            <a:off x="10184155" y="4886175"/>
            <a:ext cx="6036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Arial"/>
              <a:buNone/>
            </a:pPr>
            <a:r>
              <a:rPr b="0" i="0" lang="es-CL" sz="1200" u="none" cap="none" strike="noStrike">
                <a:solidFill>
                  <a:srgbClr val="555555"/>
                </a:solidFill>
                <a:latin typeface="Arial"/>
                <a:ea typeface="Arial"/>
                <a:cs typeface="Arial"/>
                <a:sym typeface="Arial"/>
              </a:rPr>
              <a:t>0.0655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descr="EscuelaIT Duoc UC - Escuela de Informática y Telecomunicaciones Duoc UC - Duoc  UC | LinkedIn" id="443" name="Google Shape;443;p13"/>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444" name="Google Shape;444;p13"/>
          <p:cNvSpPr txBox="1"/>
          <p:nvPr/>
        </p:nvSpPr>
        <p:spPr>
          <a:xfrm>
            <a:off x="1" y="270779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RESULTADO DEL PROYECTO</a:t>
            </a:r>
            <a:endParaRPr sz="2400">
              <a:solidFill>
                <a:srgbClr val="757070"/>
              </a:solidFill>
              <a:latin typeface="Calibri"/>
              <a:ea typeface="Calibri"/>
              <a:cs typeface="Calibri"/>
              <a:sym typeface="Calibri"/>
            </a:endParaRPr>
          </a:p>
        </p:txBody>
      </p:sp>
      <p:sp>
        <p:nvSpPr>
          <p:cNvPr id="445" name="Google Shape;445;p13"/>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descr="EscuelaIT Duoc UC - Escuela de Informática y Telecomunicaciones Duoc UC - Duoc  UC | LinkedIn" id="450" name="Google Shape;450;g369ae16c13d_0_220"/>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451" name="Google Shape;451;g369ae16c13d_0_220"/>
          <p:cNvSpPr txBox="1"/>
          <p:nvPr/>
        </p:nvSpPr>
        <p:spPr>
          <a:xfrm>
            <a:off x="-11" y="1183383"/>
            <a:ext cx="121920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400">
                <a:solidFill>
                  <a:schemeClr val="dk1"/>
                </a:solidFill>
                <a:latin typeface="Calibri"/>
                <a:ea typeface="Calibri"/>
                <a:cs typeface="Calibri"/>
                <a:sym typeface="Calibri"/>
              </a:rPr>
              <a:t>Resultados obtenidos</a:t>
            </a:r>
            <a:endParaRPr sz="3400">
              <a:solidFill>
                <a:schemeClr val="dk1"/>
              </a:solidFill>
              <a:latin typeface="Calibri"/>
              <a:ea typeface="Calibri"/>
              <a:cs typeface="Calibri"/>
              <a:sym typeface="Calibri"/>
            </a:endParaRPr>
          </a:p>
          <a:p>
            <a:pPr indent="0" lvl="0" marL="0" marR="0" rtl="0" algn="ctr">
              <a:spcBef>
                <a:spcPts val="0"/>
              </a:spcBef>
              <a:spcAft>
                <a:spcPts val="0"/>
              </a:spcAft>
              <a:buNone/>
            </a:pPr>
            <a:r>
              <a:rPr lang="es-CL" sz="3000">
                <a:solidFill>
                  <a:schemeClr val="dk1"/>
                </a:solidFill>
                <a:latin typeface="Calibri"/>
                <a:ea typeface="Calibri"/>
                <a:cs typeface="Calibri"/>
                <a:sym typeface="Calibri"/>
              </a:rPr>
              <a:t>(Equipo)</a:t>
            </a:r>
            <a:endParaRPr sz="3000">
              <a:solidFill>
                <a:schemeClr val="dk1"/>
              </a:solidFill>
              <a:latin typeface="Calibri"/>
              <a:ea typeface="Calibri"/>
              <a:cs typeface="Calibri"/>
              <a:sym typeface="Calibri"/>
            </a:endParaRPr>
          </a:p>
        </p:txBody>
      </p:sp>
      <p:graphicFrame>
        <p:nvGraphicFramePr>
          <p:cNvPr id="452" name="Google Shape;452;g369ae16c13d_0_220"/>
          <p:cNvGraphicFramePr/>
          <p:nvPr/>
        </p:nvGraphicFramePr>
        <p:xfrm>
          <a:off x="695125" y="2451175"/>
          <a:ext cx="3000000" cy="3000000"/>
        </p:xfrm>
        <a:graphic>
          <a:graphicData uri="http://schemas.openxmlformats.org/drawingml/2006/table">
            <a:tbl>
              <a:tblPr>
                <a:noFill/>
                <a:tableStyleId>{CEA2587F-D6CE-4157-AD05-9171BBE57124}</a:tableStyleId>
              </a:tblPr>
              <a:tblGrid>
                <a:gridCol w="3498975"/>
                <a:gridCol w="7302750"/>
              </a:tblGrid>
              <a:tr h="695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Nuevas tecnologías</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Incorporamos y manejamos herramientas avanzadas como Transformers, Whisper y Google Cloud, ampliando nuestra adaptación tecnológica.</a:t>
                      </a:r>
                      <a:endParaRPr sz="1500"/>
                    </a:p>
                  </a:txBody>
                  <a:tcPr marT="91425" marB="91425" marR="91425" marL="91425" anchor="ctr">
                    <a:solidFill>
                      <a:srgbClr val="EAF1FE"/>
                    </a:solidFill>
                  </a:tcPr>
                </a:tc>
              </a:tr>
              <a:tr h="695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Adaptación rápida</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Aprendimos a usar plataformas y metodologías nuevas, mejorando nuestra capacidad de aprendizaje grupal y autónomo.</a:t>
                      </a:r>
                      <a:endParaRPr sz="1500"/>
                    </a:p>
                  </a:txBody>
                  <a:tcPr marT="91425" marB="91425" marR="91425" marL="91425" anchor="ctr">
                    <a:solidFill>
                      <a:srgbClr val="EAF1FE"/>
                    </a:solidFill>
                  </a:tcPr>
                </a:tc>
              </a:tr>
              <a:tr h="695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Gestión documental</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Fortalecimos la organización y documentación sistemática de todas las fases del proyecto.</a:t>
                      </a:r>
                      <a:endParaRPr sz="1500"/>
                    </a:p>
                  </a:txBody>
                  <a:tcPr marT="91425" marB="91425" marR="91425" marL="91425" anchor="ctr">
                    <a:solidFill>
                      <a:srgbClr val="EAF1FE"/>
                    </a:solidFill>
                  </a:tcPr>
                </a:tc>
              </a:tr>
              <a:tr h="695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Metodologías estructuradas</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Aplicamos la metodología cascada para mantener orden, calidad y trazabilidad en el desarrollo.</a:t>
                      </a:r>
                      <a:endParaRPr sz="1500"/>
                    </a:p>
                  </a:txBody>
                  <a:tcPr marT="91425" marB="91425" marR="91425" marL="91425" anchor="ctr">
                    <a:solidFill>
                      <a:srgbClr val="EAF1FE"/>
                    </a:solidFill>
                  </a:tcPr>
                </a:tc>
              </a:tr>
              <a:tr h="680325">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Trabajo en equipo</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Mejoramos la colaboración integrando distintos roles y responsabilidades.</a:t>
                      </a:r>
                      <a:endParaRPr sz="1500"/>
                    </a:p>
                  </a:txBody>
                  <a:tcPr marT="91425" marB="91425" marR="91425" marL="91425" anchor="ctr">
                    <a:solidFill>
                      <a:srgbClr val="EAF1FE"/>
                    </a:solidFill>
                  </a:tcPr>
                </a:tc>
              </a:tr>
              <a:tr h="695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Relación con cliente</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Experimentamos la gestión de requerimientos reales y adaptación a cambios externos, ganando visión profesional.</a:t>
                      </a:r>
                      <a:endParaRPr sz="1500"/>
                    </a:p>
                  </a:txBody>
                  <a:tcPr marT="91425" marB="91425" marR="91425" marL="91425" anchor="ctr">
                    <a:solidFill>
                      <a:srgbClr val="EAF1FE"/>
                    </a:solidFill>
                  </a:tcPr>
                </a:tc>
              </a:tr>
            </a:tbl>
          </a:graphicData>
        </a:graphic>
      </p:graphicFrame>
      <p:sp>
        <p:nvSpPr>
          <p:cNvPr id="453" name="Google Shape;453;g369ae16c13d_0_22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descr="EscuelaIT Duoc UC - Escuela de Informática y Telecomunicaciones Duoc UC - Duoc  UC | LinkedIn" id="458" name="Google Shape;458;g369d4573da3_1_27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459" name="Google Shape;459;g369d4573da3_1_276"/>
          <p:cNvSpPr txBox="1"/>
          <p:nvPr/>
        </p:nvSpPr>
        <p:spPr>
          <a:xfrm>
            <a:off x="13" y="1134687"/>
            <a:ext cx="121920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400">
                <a:solidFill>
                  <a:schemeClr val="dk1"/>
                </a:solidFill>
                <a:latin typeface="Calibri"/>
                <a:ea typeface="Calibri"/>
                <a:cs typeface="Calibri"/>
                <a:sym typeface="Calibri"/>
              </a:rPr>
              <a:t>Resultados obtenidos</a:t>
            </a:r>
            <a:endParaRPr sz="3400">
              <a:solidFill>
                <a:schemeClr val="dk1"/>
              </a:solidFill>
              <a:latin typeface="Calibri"/>
              <a:ea typeface="Calibri"/>
              <a:cs typeface="Calibri"/>
              <a:sym typeface="Calibri"/>
            </a:endParaRPr>
          </a:p>
          <a:p>
            <a:pPr indent="0" lvl="0" marL="0" marR="0" rtl="0" algn="ctr">
              <a:spcBef>
                <a:spcPts val="0"/>
              </a:spcBef>
              <a:spcAft>
                <a:spcPts val="0"/>
              </a:spcAft>
              <a:buNone/>
            </a:pPr>
            <a:r>
              <a:rPr lang="es-CL" sz="3000">
                <a:solidFill>
                  <a:schemeClr val="dk1"/>
                </a:solidFill>
                <a:latin typeface="Calibri"/>
                <a:ea typeface="Calibri"/>
                <a:cs typeface="Calibri"/>
                <a:sym typeface="Calibri"/>
              </a:rPr>
              <a:t>(Proyecto)</a:t>
            </a:r>
            <a:endParaRPr sz="3000">
              <a:solidFill>
                <a:schemeClr val="dk1"/>
              </a:solidFill>
              <a:latin typeface="Calibri"/>
              <a:ea typeface="Calibri"/>
              <a:cs typeface="Calibri"/>
              <a:sym typeface="Calibri"/>
            </a:endParaRPr>
          </a:p>
        </p:txBody>
      </p:sp>
      <p:graphicFrame>
        <p:nvGraphicFramePr>
          <p:cNvPr id="460" name="Google Shape;460;g369d4573da3_1_276"/>
          <p:cNvGraphicFramePr/>
          <p:nvPr/>
        </p:nvGraphicFramePr>
        <p:xfrm>
          <a:off x="695150" y="2353775"/>
          <a:ext cx="3000000" cy="3000000"/>
        </p:xfrm>
        <a:graphic>
          <a:graphicData uri="http://schemas.openxmlformats.org/drawingml/2006/table">
            <a:tbl>
              <a:tblPr>
                <a:noFill/>
                <a:tableStyleId>{CEA2587F-D6CE-4157-AD05-9171BBE57124}</a:tableStyleId>
              </a:tblPr>
              <a:tblGrid>
                <a:gridCol w="3498975"/>
                <a:gridCol w="7302750"/>
              </a:tblGrid>
              <a:tr h="1372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Transcripción Audio a Texto</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Se desarrolló un sistema funcional de reconocimiento de voz que permite transcribir audio a texto con tiempos de respuesta ágiles y un nivel de precisión aceptable, cumpliendo con los parámetros establecidos en los primeros meses del proyecto.</a:t>
                      </a:r>
                      <a:endParaRPr sz="1500"/>
                    </a:p>
                  </a:txBody>
                  <a:tcPr marT="91425" marB="91425" marR="91425" marL="91425" anchor="ctr">
                    <a:solidFill>
                      <a:srgbClr val="EAF1FE"/>
                    </a:solidFill>
                  </a:tcPr>
                </a:tc>
              </a:tr>
              <a:tr h="1372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Creación DataSet</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Se construyó un dataset propio desde cero, con una estructura adecuada para el entrenamiento del modelo, dentro del plazo previsto y con la cantidad de datos necesaria para validar el funcionamiento del sistema.</a:t>
                      </a:r>
                      <a:endParaRPr sz="1500"/>
                    </a:p>
                  </a:txBody>
                  <a:tcPr marT="91425" marB="91425" marR="91425" marL="91425" anchor="ctr">
                    <a:solidFill>
                      <a:srgbClr val="EAF1FE"/>
                    </a:solidFill>
                  </a:tcPr>
                </a:tc>
              </a:tr>
              <a:tr h="1372900">
                <a:tc>
                  <a:txBody>
                    <a:bodyPr/>
                    <a:lstStyle/>
                    <a:p>
                      <a:pPr indent="0" lvl="0" marL="0" rtl="0" algn="ctr">
                        <a:spcBef>
                          <a:spcPts val="0"/>
                        </a:spcBef>
                        <a:spcAft>
                          <a:spcPts val="0"/>
                        </a:spcAft>
                        <a:buNone/>
                      </a:pPr>
                      <a:r>
                        <a:rPr b="1" i="1" lang="es-CL" sz="1800">
                          <a:solidFill>
                            <a:schemeClr val="dk1"/>
                          </a:solidFill>
                          <a:latin typeface="Calibri"/>
                          <a:ea typeface="Calibri"/>
                          <a:cs typeface="Calibri"/>
                          <a:sym typeface="Calibri"/>
                        </a:rPr>
                        <a:t>Implementación Transformer</a:t>
                      </a:r>
                      <a:endParaRPr b="1" i="1" sz="18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ctr">
                        <a:spcBef>
                          <a:spcPts val="0"/>
                        </a:spcBef>
                        <a:spcAft>
                          <a:spcPts val="0"/>
                        </a:spcAft>
                        <a:buNone/>
                      </a:pPr>
                      <a:r>
                        <a:rPr lang="es-CL" sz="1500">
                          <a:solidFill>
                            <a:schemeClr val="dk1"/>
                          </a:solidFill>
                          <a:latin typeface="Calibri"/>
                          <a:ea typeface="Calibri"/>
                          <a:cs typeface="Calibri"/>
                          <a:sym typeface="Calibri"/>
                        </a:rPr>
                        <a:t>Se integró un modelo de inteligencia artificial tipo Transformer que interpreta correctamente los textos transcritos y genera las coordenadas correspondientes en formato JSON, logrando niveles de desempeño adecuados en tiempo y precisión.</a:t>
                      </a:r>
                      <a:endParaRPr sz="1500"/>
                    </a:p>
                  </a:txBody>
                  <a:tcPr marT="91425" marB="91425" marR="91425" marL="91425" anchor="ctr">
                    <a:solidFill>
                      <a:srgbClr val="EAF1FE"/>
                    </a:solidFill>
                  </a:tcPr>
                </a:tc>
              </a:tr>
            </a:tbl>
          </a:graphicData>
        </a:graphic>
      </p:graphicFrame>
      <p:sp>
        <p:nvSpPr>
          <p:cNvPr id="461" name="Google Shape;461;g369d4573da3_1_27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descr="EscuelaIT Duoc UC - Escuela de Informática y Telecomunicaciones Duoc UC - Duoc  UC | LinkedIn" id="466" name="Google Shape;466;g369ae16c13d_0_226"/>
          <p:cNvPicPr preferRelativeResize="0"/>
          <p:nvPr/>
        </p:nvPicPr>
        <p:blipFill rotWithShape="1">
          <a:blip r:embed="rId4">
            <a:alphaModFix/>
          </a:blip>
          <a:srcRect b="0" l="0" r="0" t="0"/>
          <a:stretch/>
        </p:blipFill>
        <p:spPr>
          <a:xfrm>
            <a:off x="8772152" y="207550"/>
            <a:ext cx="3141406" cy="785352"/>
          </a:xfrm>
          <a:prstGeom prst="rect">
            <a:avLst/>
          </a:prstGeom>
          <a:noFill/>
          <a:ln>
            <a:noFill/>
          </a:ln>
        </p:spPr>
      </p:pic>
      <p:sp>
        <p:nvSpPr>
          <p:cNvPr id="467" name="Google Shape;467;g369ae16c13d_0_226"/>
          <p:cNvSpPr txBox="1"/>
          <p:nvPr/>
        </p:nvSpPr>
        <p:spPr>
          <a:xfrm>
            <a:off x="102076" y="992898"/>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Obstáculos presentados durante el desarrollo</a:t>
            </a:r>
            <a:endParaRPr/>
          </a:p>
        </p:txBody>
      </p:sp>
      <p:graphicFrame>
        <p:nvGraphicFramePr>
          <p:cNvPr id="468" name="Google Shape;468;g369ae16c13d_0_226"/>
          <p:cNvGraphicFramePr/>
          <p:nvPr/>
        </p:nvGraphicFramePr>
        <p:xfrm>
          <a:off x="1022025" y="2145100"/>
          <a:ext cx="3000000" cy="3000000"/>
        </p:xfrm>
        <a:graphic>
          <a:graphicData uri="http://schemas.openxmlformats.org/drawingml/2006/table">
            <a:tbl>
              <a:tblPr>
                <a:noFill/>
                <a:tableStyleId>{CEA2587F-D6CE-4157-AD05-9171BBE57124}</a:tableStyleId>
              </a:tblPr>
              <a:tblGrid>
                <a:gridCol w="3251125"/>
                <a:gridCol w="6785500"/>
              </a:tblGrid>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Capacitación técnica insuficiente</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La formación en la malla fue limitada, requiriendo aprendizaje adicional para manejar tecnologías complejas.</a:t>
                      </a:r>
                      <a:endParaRPr sz="1700"/>
                    </a:p>
                  </a:txBody>
                  <a:tcPr marT="91425" marB="91425" marR="91425" marL="91425" anchor="ctr">
                    <a:solidFill>
                      <a:srgbClr val="EAF1FE"/>
                    </a:solidFill>
                  </a:tcPr>
                </a:tc>
              </a:tr>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Herramientas limitadas</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El uso de software gratuito restringió el alcance y la calidad del desarrollo.</a:t>
                      </a:r>
                      <a:endParaRPr sz="1700"/>
                    </a:p>
                  </a:txBody>
                  <a:tcPr marT="91425" marB="91425" marR="91425" marL="91425" anchor="ctr">
                    <a:solidFill>
                      <a:srgbClr val="EAF1FE"/>
                    </a:solidFill>
                  </a:tcPr>
                </a:tc>
              </a:tr>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Problemas con el dataset</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La creación desde cero del dataset fue muy demandante y afectó el entrenamiento del Transformer.</a:t>
                      </a:r>
                      <a:endParaRPr sz="1700"/>
                    </a:p>
                  </a:txBody>
                  <a:tcPr marT="91425" marB="91425" marR="91425" marL="91425" anchor="ctr">
                    <a:solidFill>
                      <a:srgbClr val="EAF1FE"/>
                    </a:solidFill>
                  </a:tcPr>
                </a:tc>
              </a:tr>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Gestión del tiempo</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El tiempo limitado obligó a reducir el alcance y priorizar tareas, dificultando una cobertura completa.</a:t>
                      </a:r>
                      <a:endParaRPr sz="1700"/>
                    </a:p>
                  </a:txBody>
                  <a:tcPr marT="91425" marB="91425" marR="91425" marL="91425" anchor="ctr">
                    <a:solidFill>
                      <a:srgbClr val="EAF1FE"/>
                    </a:solidFill>
                  </a:tcPr>
                </a:tc>
              </a:tr>
              <a:tr h="580925">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Planificación inicial insuficiente</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Falta de análisis profundo de riesgos y recursos complicó la ejecución.</a:t>
                      </a:r>
                      <a:endParaRPr sz="1700"/>
                    </a:p>
                  </a:txBody>
                  <a:tcPr marT="91425" marB="91425" marR="91425" marL="91425" anchor="ctr">
                    <a:solidFill>
                      <a:srgbClr val="EAF1FE"/>
                    </a:solidFill>
                  </a:tcPr>
                </a:tc>
              </a:tr>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Comunicación interna deficiente</a:t>
                      </a:r>
                      <a:endParaRPr b="1" i="1" sz="19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La mala coordinación en el grupo generó retrasos y desalineaciones en avances.</a:t>
                      </a:r>
                      <a:endParaRPr sz="1700"/>
                    </a:p>
                  </a:txBody>
                  <a:tcPr marT="91425" marB="91425" marR="91425" marL="91425" anchor="ctr">
                    <a:solidFill>
                      <a:srgbClr val="EAF1FE"/>
                    </a:solidFill>
                  </a:tcPr>
                </a:tc>
              </a:tr>
              <a:tr h="594200">
                <a:tc>
                  <a:txBody>
                    <a:bodyPr/>
                    <a:lstStyle/>
                    <a:p>
                      <a:pPr indent="0" lvl="0" marL="0" rtl="0" algn="ctr">
                        <a:spcBef>
                          <a:spcPts val="0"/>
                        </a:spcBef>
                        <a:spcAft>
                          <a:spcPts val="0"/>
                        </a:spcAft>
                        <a:buNone/>
                      </a:pPr>
                      <a:r>
                        <a:rPr b="1" lang="es-CL" sz="1700">
                          <a:solidFill>
                            <a:schemeClr val="dk1"/>
                          </a:solidFill>
                          <a:latin typeface="Calibri"/>
                          <a:ea typeface="Calibri"/>
                          <a:cs typeface="Calibri"/>
                          <a:sym typeface="Calibri"/>
                        </a:rPr>
                        <a:t>Necesidad de flexibilidad</a:t>
                      </a:r>
                      <a:endParaRPr b="1" sz="1700">
                        <a:solidFill>
                          <a:schemeClr val="dk1"/>
                        </a:solidFill>
                        <a:latin typeface="Calibri"/>
                        <a:ea typeface="Calibri"/>
                        <a:cs typeface="Calibri"/>
                        <a:sym typeface="Calibri"/>
                      </a:endParaRPr>
                    </a:p>
                  </a:txBody>
                  <a:tcPr marT="91425" marB="91425" marR="91425" marL="91425" anchor="ctr">
                    <a:solidFill>
                      <a:srgbClr val="A4C2F4"/>
                    </a:solidFill>
                  </a:tcPr>
                </a:tc>
                <a:tc>
                  <a:txBody>
                    <a:bodyPr/>
                    <a:lstStyle/>
                    <a:p>
                      <a:pPr indent="0" lvl="0" marL="0" rtl="0" algn="l">
                        <a:spcBef>
                          <a:spcPts val="0"/>
                        </a:spcBef>
                        <a:spcAft>
                          <a:spcPts val="0"/>
                        </a:spcAft>
                        <a:buNone/>
                      </a:pPr>
                      <a:r>
                        <a:rPr lang="es-CL" sz="1600">
                          <a:solidFill>
                            <a:schemeClr val="dk1"/>
                          </a:solidFill>
                          <a:latin typeface="Calibri"/>
                          <a:ea typeface="Calibri"/>
                          <a:cs typeface="Calibri"/>
                          <a:sym typeface="Calibri"/>
                        </a:rPr>
                        <a:t>Adaptarnos a imprevistos fue clave para avanzar pese a las dificultades.</a:t>
                      </a:r>
                      <a:endParaRPr sz="1700"/>
                    </a:p>
                  </a:txBody>
                  <a:tcPr marT="91425" marB="91425" marR="91425" marL="91425" anchor="ctr">
                    <a:solidFill>
                      <a:srgbClr val="EAF1FE"/>
                    </a:solidFill>
                  </a:tcPr>
                </a:tc>
              </a:tr>
            </a:tbl>
          </a:graphicData>
        </a:graphic>
      </p:graphicFrame>
      <p:sp>
        <p:nvSpPr>
          <p:cNvPr id="469" name="Google Shape;469;g369ae16c13d_0_22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descr="EscuelaIT Duoc UC - Escuela de Informática y Telecomunicaciones Duoc UC - Duoc  UC | LinkedIn" id="474" name="Google Shape;474;p1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475" name="Google Shape;475;p16"/>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
        <p:nvSpPr>
          <p:cNvPr id="476" name="Google Shape;476;p1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“SEÑAI”</a:t>
            </a:r>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